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21"/>
  </p:notesMasterIdLst>
  <p:sldIdLst>
    <p:sldId id="259" r:id="rId2"/>
    <p:sldId id="256" r:id="rId3"/>
    <p:sldId id="261" r:id="rId4"/>
    <p:sldId id="266" r:id="rId5"/>
    <p:sldId id="260" r:id="rId6"/>
    <p:sldId id="274" r:id="rId7"/>
    <p:sldId id="273" r:id="rId8"/>
    <p:sldId id="262" r:id="rId9"/>
    <p:sldId id="267" r:id="rId10"/>
    <p:sldId id="275" r:id="rId11"/>
    <p:sldId id="272" r:id="rId12"/>
    <p:sldId id="270" r:id="rId13"/>
    <p:sldId id="271" r:id="rId14"/>
    <p:sldId id="263" r:id="rId15"/>
    <p:sldId id="268" r:id="rId16"/>
    <p:sldId id="264" r:id="rId17"/>
    <p:sldId id="269" r:id="rId18"/>
    <p:sldId id="276" r:id="rId19"/>
    <p:sldId id="277" r:id="rId20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B23D0DA-BC12-486B-BF71-11E879F42B38}" v="295" dt="2025-06-09T21:33:10.435"/>
    <p1510:client id="{56067E8A-2B26-E86A-F3FA-CCBBB3B990EB}" v="142" dt="2025-06-09T18:23:53.185"/>
    <p1510:client id="{7CD7D2A7-909D-480A-BEF0-4C0DEACB4771}" v="2" dt="2025-06-09T00:59:09.206"/>
    <p1510:client id="{AD212EC7-1E5B-0135-4CE5-C170B72A76AB}" v="452" dt="2025-06-09T18:50:02.4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85" d="100"/>
          <a:sy n="85" d="100"/>
        </p:scale>
        <p:origin x="408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841066C-AC27-4746-A864-661B73E847F4}" type="datetimeFigureOut">
              <a:rPr lang="en-BE" smtClean="0"/>
              <a:t>06/09/2025</a:t>
            </a:fld>
            <a:endParaRPr lang="en-B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B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B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37A7F01-4F5A-4831-8A2A-D5210703B513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1817430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hyperlink" Target="http://www.ugent.be/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904834"/>
            <a:ext cx="5483225" cy="4727616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3BA10A23-5DA3-9A1E-8E84-29F7F107D9C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88206" y="1076122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1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62DBA8D7-7A6E-681C-61D6-629E37255DC9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588206" y="1336460"/>
            <a:ext cx="5800725" cy="25331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4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99674CE-CC5A-6E5E-B20B-6D1ECE875889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45820" y="4947903"/>
            <a:ext cx="5868987" cy="33855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noProof="0" dirty="0"/>
              <a:t>Click to add subtitle / presenter / date [dd-mm-</a:t>
            </a:r>
            <a:r>
              <a:rPr lang="en-GB" noProof="0" dirty="0" err="1"/>
              <a:t>yyyy</a:t>
            </a:r>
            <a:r>
              <a:rPr lang="en-GB" noProof="0" dirty="0"/>
              <a:t>]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3C3B384C-5F63-0027-60E1-3323498634AF}"/>
              </a:ext>
            </a:extLst>
          </p:cNvPr>
          <p:cNvSpPr>
            <a:spLocks noGrp="1"/>
          </p:cNvSpPr>
          <p:nvPr>
            <p:ph type="pic" sz="quarter" idx="16" hasCustomPrompt="1"/>
          </p:nvPr>
        </p:nvSpPr>
        <p:spPr>
          <a:xfrm>
            <a:off x="399351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2</a:t>
            </a:r>
          </a:p>
        </p:txBody>
      </p:sp>
      <p:sp>
        <p:nvSpPr>
          <p:cNvPr id="6" name="Picture Placeholder 3">
            <a:extLst>
              <a:ext uri="{FF2B5EF4-FFF2-40B4-BE49-F238E27FC236}">
                <a16:creationId xmlns:a16="http://schemas.microsoft.com/office/drawing/2014/main" id="{47C46CF3-3266-0AE4-E490-2AB34D0D8D7C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8647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3</a:t>
            </a:r>
          </a:p>
        </p:txBody>
      </p:sp>
      <p:sp>
        <p:nvSpPr>
          <p:cNvPr id="7" name="Picture Placeholder 3">
            <a:extLst>
              <a:ext uri="{FF2B5EF4-FFF2-40B4-BE49-F238E27FC236}">
                <a16:creationId xmlns:a16="http://schemas.microsoft.com/office/drawing/2014/main" id="{3B1542A1-6AC8-E18C-CF5F-D1E4308D374A}"/>
              </a:ext>
            </a:extLst>
          </p:cNvPr>
          <p:cNvSpPr>
            <a:spLocks noGrp="1"/>
          </p:cNvSpPr>
          <p:nvPr>
            <p:ph type="pic" sz="quarter" idx="18" hasCustomPrompt="1"/>
          </p:nvPr>
        </p:nvSpPr>
        <p:spPr>
          <a:xfrm>
            <a:off x="8179435" y="5845558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4</a:t>
            </a:r>
          </a:p>
        </p:txBody>
      </p:sp>
      <p:sp>
        <p:nvSpPr>
          <p:cNvPr id="3" name="Text Placeholder 15">
            <a:extLst>
              <a:ext uri="{FF2B5EF4-FFF2-40B4-BE49-F238E27FC236}">
                <a16:creationId xmlns:a16="http://schemas.microsoft.com/office/drawing/2014/main" id="{5CD99CC8-1C66-FA5B-C68B-CA8D27A118F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2126254"/>
            <a:ext cx="5632959" cy="2601271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title</a:t>
            </a:r>
          </a:p>
        </p:txBody>
      </p:sp>
      <p:pic>
        <p:nvPicPr>
          <p:cNvPr id="8" name="Afbeelding 17">
            <a:extLst>
              <a:ext uri="{FF2B5EF4-FFF2-40B4-BE49-F238E27FC236}">
                <a16:creationId xmlns:a16="http://schemas.microsoft.com/office/drawing/2014/main" id="{377D64E3-D8A5-11E3-0E0C-76355B8A07A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  <p:sp>
        <p:nvSpPr>
          <p:cNvPr id="2" name="Picture Placeholder 3">
            <a:extLst>
              <a:ext uri="{FF2B5EF4-FFF2-40B4-BE49-F238E27FC236}">
                <a16:creationId xmlns:a16="http://schemas.microsoft.com/office/drawing/2014/main" id="{0581EEBD-3A2E-3F65-A7CB-B3DD05283A4C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1900555" y="5852592"/>
            <a:ext cx="1929765" cy="698896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 baseline="0"/>
            </a:lvl1pPr>
          </a:lstStyle>
          <a:p>
            <a:r>
              <a:rPr lang="en-BE"/>
              <a:t>Partner Logo 1</a:t>
            </a:r>
          </a:p>
        </p:txBody>
      </p:sp>
    </p:spTree>
    <p:extLst>
      <p:ext uri="{BB962C8B-B14F-4D97-AF65-F5344CB8AC3E}">
        <p14:creationId xmlns:p14="http://schemas.microsoft.com/office/powerpoint/2010/main" val="414823090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415">
          <p15:clr>
            <a:srgbClr val="FBAE40"/>
          </p15:clr>
        </p15:guide>
        <p15:guide id="5" orient="horz" pos="2568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E7AAA61-02E7-BAC9-EA05-6C3E6931C9AE}"/>
              </a:ext>
            </a:extLst>
          </p:cNvPr>
          <p:cNvSpPr/>
          <p:nvPr/>
        </p:nvSpPr>
        <p:spPr>
          <a:xfrm>
            <a:off x="334962" y="-7643"/>
            <a:ext cx="11857038" cy="5632215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F6D2043D-6EB9-0864-5E05-87A3F67AF25E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708775" y="0"/>
            <a:ext cx="5483225" cy="5632450"/>
          </a:xfrm>
          <a:prstGeom prst="rect">
            <a:avLst/>
          </a:prstGeom>
          <a:noFill/>
        </p:spPr>
        <p:txBody>
          <a:bodyPr/>
          <a:lstStyle>
            <a:lvl1pPr marL="0" indent="0">
              <a:buFontTx/>
              <a:buNone/>
              <a:defRPr b="0" i="1" baseline="0">
                <a:solidFill>
                  <a:schemeClr val="bg1"/>
                </a:solidFill>
              </a:defRPr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8696E979-5DD6-A9D0-6C24-A5369197D4E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54196" y="1904921"/>
            <a:ext cx="5632959" cy="3597780"/>
          </a:xfrm>
          <a:prstGeom prst="rect">
            <a:avLst/>
          </a:prstGeom>
        </p:spPr>
        <p:txBody>
          <a:bodyPr anchor="b" anchorCtr="0"/>
          <a:lstStyle>
            <a:lvl1pPr marL="0" indent="0">
              <a:lnSpc>
                <a:spcPts val="6800"/>
              </a:lnSpc>
              <a:spcBef>
                <a:spcPts val="0"/>
              </a:spcBef>
              <a:buNone/>
              <a:defRPr sz="6500" b="1" i="0" cap="none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chapter title</a:t>
            </a:r>
          </a:p>
        </p:txBody>
      </p:sp>
    </p:spTree>
    <p:extLst>
      <p:ext uri="{BB962C8B-B14F-4D97-AF65-F5344CB8AC3E}">
        <p14:creationId xmlns:p14="http://schemas.microsoft.com/office/powerpoint/2010/main" val="401869389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4226">
          <p15:clr>
            <a:srgbClr val="FBAE40"/>
          </p15:clr>
        </p15:guide>
        <p15:guide id="4" pos="211">
          <p15:clr>
            <a:srgbClr val="FBAE40"/>
          </p15:clr>
        </p15:guide>
        <p15:guide id="5" orient="horz" pos="3543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el en obje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10893106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674F96B-ACC8-7B86-3350-B2CBDF35102E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6986D91-BB3B-0E85-A2F8-E3C6F52F54E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0401809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25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C5D27489-CE6E-43ED-8317-F7C9B416AAF4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107575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9CA775B9-7A5D-D3BA-EB26-3B1C77C0C3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E3C2FBC6-E436-D1CA-B831-5045F9D5781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17009623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197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CB15F7A-2857-1665-65A2-912D2635A333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rgbClr val="8BBEE8"/>
          </a:solidFill>
        </p:spPr>
        <p:txBody>
          <a:bodyPr lIns="216000" tIns="216000"/>
          <a:lstStyle>
            <a:lvl1pPr marL="0" indent="0">
              <a:buNone/>
              <a:defRPr sz="200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</a:p>
        </p:txBody>
      </p:sp>
      <p:sp>
        <p:nvSpPr>
          <p:cNvPr id="7" name="Text Placeholder 17">
            <a:extLst>
              <a:ext uri="{FF2B5EF4-FFF2-40B4-BE49-F238E27FC236}">
                <a16:creationId xmlns:a16="http://schemas.microsoft.com/office/drawing/2014/main" id="{0FE049FB-53CE-0D06-5EAF-F7D996BBD1A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542925" y="1150143"/>
            <a:ext cx="10893106" cy="5492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solidFill>
                  <a:srgbClr val="8BBEE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sz="2800" b="0" i="0" baseline="0" dirty="0">
                <a:latin typeface="UGent Panno Text SemiLight" panose="02000406040000040003" pitchFamily="2" charset="0"/>
              </a:rPr>
              <a:t>Click to add subtitle</a:t>
            </a:r>
            <a:endParaRPr lang="en-BE" sz="2800" b="0" i="0" baseline="0" dirty="0">
              <a:latin typeface="UGent Panno Text SemiLight" panose="02000406040000040003" pitchFamily="2" charset="0"/>
            </a:endParaRP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BB3EDE80-0BDF-4564-E27A-18B047ECA9A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250995"/>
            <a:ext cx="10893422" cy="893656"/>
          </a:xfrm>
          <a:prstGeom prst="rect">
            <a:avLst/>
          </a:prstGeom>
        </p:spPr>
        <p:txBody>
          <a:bodyPr tIns="0" bIns="0"/>
          <a:lstStyle>
            <a:lvl1pPr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83700952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3B9B38-4062-3544-B884-9B34D23BDCA4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42609" y="1889759"/>
            <a:ext cx="5340031" cy="378968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baseline="0">
                <a:latin typeface="UGent Panno Text" panose="02000506040000040003" pitchFamily="2" charset="0"/>
              </a:defRPr>
            </a:lvl1pPr>
            <a:lvl2pPr marL="9525" indent="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2pPr>
            <a:lvl3pPr marL="801688" indent="-263525">
              <a:buClr>
                <a:srgbClr val="1E64C8"/>
              </a:buClr>
              <a:tabLst/>
              <a:defRPr baseline="0">
                <a:latin typeface="UGent Panno Text" panose="02000506040000040003" pitchFamily="2" charset="0"/>
              </a:defRPr>
            </a:lvl3pPr>
            <a:lvl4pPr>
              <a:defRPr baseline="0">
                <a:latin typeface="UGent Panno Text" panose="02000506040000040003" pitchFamily="2" charset="0"/>
              </a:defRPr>
            </a:lvl4pPr>
            <a:lvl5pPr>
              <a:defRPr baseline="0">
                <a:latin typeface="UGent Panno Text" panose="02000506040000040003" pitchFamily="2" charset="0"/>
              </a:defRPr>
            </a:lvl5pPr>
          </a:lstStyle>
          <a:p>
            <a:pPr lvl="0"/>
            <a:r>
              <a:rPr lang="en-GB" dirty="0"/>
              <a:t>Click to add text</a:t>
            </a:r>
          </a:p>
          <a:p>
            <a:pPr lvl="1"/>
            <a:r>
              <a:rPr lang="en-GB" dirty="0"/>
              <a:t>Level 1</a:t>
            </a:r>
          </a:p>
          <a:p>
            <a:pPr lvl="2"/>
            <a:r>
              <a:rPr lang="en-GB" dirty="0"/>
              <a:t>Level 2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A61780A-83DC-D87E-7E9D-4AAE6AB2CEE8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6096000" y="0"/>
            <a:ext cx="5761038" cy="6561138"/>
          </a:xfrm>
          <a:prstGeom prst="rect">
            <a:avLst/>
          </a:prstGeom>
          <a:solidFill>
            <a:schemeClr val="bg1">
              <a:alpha val="10106"/>
            </a:schemeClr>
          </a:solidFill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638AEE2A-8AAD-71AA-7952-D0105F9D9D3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42609" y="357529"/>
            <a:ext cx="5340031" cy="1532230"/>
          </a:xfrm>
          <a:prstGeom prst="rect">
            <a:avLst/>
          </a:prstGeom>
        </p:spPr>
        <p:txBody>
          <a:bodyPr anchor="t" anchorCtr="0"/>
          <a:lstStyle>
            <a:lvl1pPr>
              <a:lnSpc>
                <a:spcPts val="4880"/>
              </a:lnSpc>
              <a:defRPr sz="4400" b="1" i="0" cap="none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en-GB" dirty="0"/>
              <a:t>Click to add title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506111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527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6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60491DC-DD02-8C0D-3C43-4759716D260A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3" y="0"/>
            <a:ext cx="11857037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79928919-EA26-6E09-2403-4922D79229C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096000" y="2960688"/>
            <a:ext cx="5761038" cy="3600450"/>
          </a:xfrm>
          <a:prstGeom prst="rect">
            <a:avLst/>
          </a:prstGeom>
          <a:solidFill>
            <a:srgbClr val="8BBEE8"/>
          </a:solidFill>
        </p:spPr>
        <p:txBody>
          <a:bodyPr lIns="288000" tIns="144000"/>
          <a:lstStyle>
            <a:lvl1pPr marL="0" indent="0">
              <a:lnSpc>
                <a:spcPct val="100000"/>
              </a:lnSpc>
              <a:buNone/>
              <a:defRPr sz="20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text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191359701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  <p15:guide id="3" pos="7469">
          <p15:clr>
            <a:srgbClr val="FBAE40"/>
          </p15:clr>
        </p15:guide>
        <p15:guide id="4" orient="horz" pos="4133">
          <p15:clr>
            <a:srgbClr val="FBAE40"/>
          </p15:clr>
        </p15:guide>
        <p15:guide id="5" orient="horz" pos="3543">
          <p15:clr>
            <a:srgbClr val="FBAE40"/>
          </p15:clr>
        </p15:guide>
        <p15:guide id="6" pos="211">
          <p15:clr>
            <a:srgbClr val="FBAE40"/>
          </p15:clr>
        </p15:guide>
        <p15:guide id="7" orient="horz" pos="1865">
          <p15:clr>
            <a:srgbClr val="FBAE40"/>
          </p15:clr>
        </p15:guide>
        <p15:guide id="8" pos="402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icture Placeholder 9">
            <a:extLst>
              <a:ext uri="{FF2B5EF4-FFF2-40B4-BE49-F238E27FC236}">
                <a16:creationId xmlns:a16="http://schemas.microsoft.com/office/drawing/2014/main" id="{D8A7D59B-53F4-BEBC-DECB-70532BA2E89C}"/>
              </a:ext>
            </a:extLst>
          </p:cNvPr>
          <p:cNvSpPr>
            <a:spLocks noGrp="1"/>
          </p:cNvSpPr>
          <p:nvPr>
            <p:ph type="pic" sz="quarter" idx="12" hasCustomPrompt="1"/>
          </p:nvPr>
        </p:nvSpPr>
        <p:spPr>
          <a:xfrm>
            <a:off x="334964" y="0"/>
            <a:ext cx="8426236" cy="5624513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="0" i="1" baseline="0"/>
            </a:lvl1pPr>
          </a:lstStyle>
          <a:p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picture</a:t>
            </a:r>
            <a:endParaRPr lang="en-BE" dirty="0"/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CFE686B0-9020-8A92-0329-A8A99BFE9AAF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0" y="3429000"/>
            <a:ext cx="5761038" cy="3132137"/>
          </a:xfrm>
          <a:prstGeom prst="rect">
            <a:avLst/>
          </a:prstGeom>
          <a:solidFill>
            <a:schemeClr val="bg1"/>
          </a:solidFill>
        </p:spPr>
        <p:txBody>
          <a:bodyPr lIns="216000" tIns="216000"/>
          <a:lstStyle>
            <a:lvl1pPr marL="0" indent="0">
              <a:buNone/>
              <a:defRPr sz="2400" b="1" i="0" baseline="0">
                <a:solidFill>
                  <a:srgbClr val="1E64C8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GB" dirty="0"/>
              <a:t>Click to add quote</a:t>
            </a:r>
          </a:p>
        </p:txBody>
      </p:sp>
    </p:spTree>
    <p:extLst>
      <p:ext uri="{BB962C8B-B14F-4D97-AF65-F5344CB8AC3E}">
        <p14:creationId xmlns:p14="http://schemas.microsoft.com/office/powerpoint/2010/main" val="33941134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8424342D-546E-7B37-2676-BAAD35536F2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9F0F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7CB6634-3E7A-5251-E883-2E5086975CE7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7" name="Media Placeholder 6">
            <a:extLst>
              <a:ext uri="{FF2B5EF4-FFF2-40B4-BE49-F238E27FC236}">
                <a16:creationId xmlns:a16="http://schemas.microsoft.com/office/drawing/2014/main" id="{FC62665B-E898-7EE2-2118-04E6DA6F3F16}"/>
              </a:ext>
            </a:extLst>
          </p:cNvPr>
          <p:cNvSpPr>
            <a:spLocks noGrp="1"/>
          </p:cNvSpPr>
          <p:nvPr>
            <p:ph type="media" sz="quarter" idx="10" hasCustomPrompt="1"/>
          </p:nvPr>
        </p:nvSpPr>
        <p:spPr>
          <a:xfrm>
            <a:off x="1803400" y="647012"/>
            <a:ext cx="8582025" cy="4822825"/>
          </a:xfrm>
          <a:prstGeom prst="rect">
            <a:avLst/>
          </a:prstGeom>
        </p:spPr>
        <p:txBody>
          <a:bodyPr/>
          <a:lstStyle>
            <a:lvl1pPr marL="0" marR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b="0" i="1" baseline="0"/>
            </a:lvl1pPr>
          </a:lstStyle>
          <a:p>
            <a:r>
              <a:rPr lang="en-GB" dirty="0"/>
              <a:t>Click to add video</a:t>
            </a:r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4951F26E-CB45-E98F-4538-724A7F98AE27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335503" y="2526636"/>
            <a:ext cx="1520993" cy="1135012"/>
          </a:xfrm>
          <a:prstGeom prst="rect">
            <a:avLst/>
          </a:prstGeom>
          <a:effectLst>
            <a:outerShdw blurRad="50800" dist="79774" dir="2700000" sx="95000" sy="95000" algn="tl" rotWithShape="0">
              <a:prstClr val="black">
                <a:alpha val="42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7839856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3543">
          <p15:clr>
            <a:srgbClr val="FBAE40"/>
          </p15:clr>
        </p15:guide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  <p15:guide id="4" pos="5518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hlinkClick r:id="rId2"/>
            <a:extLst>
              <a:ext uri="{FF2B5EF4-FFF2-40B4-BE49-F238E27FC236}">
                <a16:creationId xmlns:a16="http://schemas.microsoft.com/office/drawing/2014/main" id="{362F20F1-ED28-85C0-71DB-505E68838417}"/>
              </a:ext>
            </a:extLst>
          </p:cNvPr>
          <p:cNvSpPr/>
          <p:nvPr/>
        </p:nvSpPr>
        <p:spPr>
          <a:xfrm>
            <a:off x="334962" y="904834"/>
            <a:ext cx="11857038" cy="4727381"/>
          </a:xfrm>
          <a:prstGeom prst="rect">
            <a:avLst/>
          </a:prstGeom>
          <a:solidFill>
            <a:srgbClr val="1E64C8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BE"/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5E68D4D5-0FA9-E53F-F53B-B98FE92BBC7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209307" y="128813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1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name presenter</a:t>
            </a:r>
            <a:endParaRPr lang="en-GB" dirty="0"/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DC9F327B-FF93-9563-C292-045730830AD4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209306" y="1744365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function</a:t>
            </a:r>
            <a:r>
              <a:rPr lang="nl-BE" dirty="0"/>
              <a:t> presenter</a:t>
            </a:r>
            <a:endParaRPr lang="en-GB" dirty="0"/>
          </a:p>
        </p:txBody>
      </p:sp>
      <p:sp>
        <p:nvSpPr>
          <p:cNvPr id="19" name="Text Placeholder 15">
            <a:extLst>
              <a:ext uri="{FF2B5EF4-FFF2-40B4-BE49-F238E27FC236}">
                <a16:creationId xmlns:a16="http://schemas.microsoft.com/office/drawing/2014/main" id="{2B695713-4E1B-201D-D5EB-461CBF7EBA5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209306" y="2514594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cap="all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department</a:t>
            </a:r>
            <a:r>
              <a:rPr lang="nl-BE" dirty="0"/>
              <a:t> or research </a:t>
            </a:r>
            <a:r>
              <a:rPr lang="nl-BE" dirty="0" err="1"/>
              <a:t>group</a:t>
            </a:r>
            <a:endParaRPr lang="en-GB" dirty="0"/>
          </a:p>
        </p:txBody>
      </p:sp>
      <p:sp>
        <p:nvSpPr>
          <p:cNvPr id="20" name="Text Placeholder 15">
            <a:extLst>
              <a:ext uri="{FF2B5EF4-FFF2-40B4-BE49-F238E27FC236}">
                <a16:creationId xmlns:a16="http://schemas.microsoft.com/office/drawing/2014/main" id="{FE657102-1BE8-0D9D-E03D-6B6E915D876B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209306" y="3448928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email </a:t>
            </a:r>
            <a:r>
              <a:rPr lang="nl-BE" dirty="0" err="1"/>
              <a:t>address</a:t>
            </a:r>
            <a:endParaRPr lang="en-GB" dirty="0"/>
          </a:p>
        </p:txBody>
      </p:sp>
      <p:sp>
        <p:nvSpPr>
          <p:cNvPr id="21" name="Text Placeholder 15">
            <a:extLst>
              <a:ext uri="{FF2B5EF4-FFF2-40B4-BE49-F238E27FC236}">
                <a16:creationId xmlns:a16="http://schemas.microsoft.com/office/drawing/2014/main" id="{86142B73-FD37-BBD7-B358-4DD6E2FC11F9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1209305" y="3906540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341BF6EC-7ACA-8D9F-5C30-803E5DD79E44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209305" y="4379321"/>
            <a:ext cx="5800725" cy="368467"/>
          </a:xfrm>
          <a:prstGeom prst="rect">
            <a:avLst/>
          </a:prstGeom>
        </p:spPr>
        <p:txBody>
          <a:bodyPr/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8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nl-BE" dirty="0"/>
              <a:t>Click </a:t>
            </a:r>
            <a:r>
              <a:rPr lang="nl-BE" dirty="0" err="1"/>
              <a:t>to</a:t>
            </a:r>
            <a:r>
              <a:rPr lang="nl-BE" dirty="0"/>
              <a:t> </a:t>
            </a:r>
            <a:r>
              <a:rPr lang="nl-BE" dirty="0" err="1"/>
              <a:t>add</a:t>
            </a:r>
            <a:r>
              <a:rPr lang="nl-BE" dirty="0"/>
              <a:t> </a:t>
            </a:r>
            <a:r>
              <a:rPr lang="nl-BE" dirty="0" err="1"/>
              <a:t>cell</a:t>
            </a:r>
            <a:r>
              <a:rPr lang="nl-BE" dirty="0"/>
              <a:t> </a:t>
            </a:r>
            <a:r>
              <a:rPr lang="nl-BE" dirty="0" err="1"/>
              <a:t>phone</a:t>
            </a:r>
            <a:r>
              <a:rPr lang="nl-BE" dirty="0"/>
              <a:t> </a:t>
            </a:r>
            <a:r>
              <a:rPr lang="nl-BE" dirty="0" err="1"/>
              <a:t>number</a:t>
            </a:r>
            <a:endParaRPr lang="en-GB" dirty="0"/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FF87902B-45B8-AF60-EDBD-FCD5EFD06143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341671" y="2572340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Picture Placeholder 14">
            <a:extLst>
              <a:ext uri="{FF2B5EF4-FFF2-40B4-BE49-F238E27FC236}">
                <a16:creationId xmlns:a16="http://schemas.microsoft.com/office/drawing/2014/main" id="{88FF502E-8D06-7F3E-2B5A-7C3BB3F17DCE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903448" y="2572340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 dirty="0"/>
          </a:p>
        </p:txBody>
      </p:sp>
      <p:sp>
        <p:nvSpPr>
          <p:cNvPr id="22" name="Text Placeholder 15">
            <a:extLst>
              <a:ext uri="{FF2B5EF4-FFF2-40B4-BE49-F238E27FC236}">
                <a16:creationId xmlns:a16="http://schemas.microsoft.com/office/drawing/2014/main" id="{EE6C3D79-39D2-1CC1-710A-71F43764734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341671" y="3006178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14">
            <a:extLst>
              <a:ext uri="{FF2B5EF4-FFF2-40B4-BE49-F238E27FC236}">
                <a16:creationId xmlns:a16="http://schemas.microsoft.com/office/drawing/2014/main" id="{35C7FD63-C24F-9766-4D38-14E96DC1DEDF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8903448" y="3006178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5" name="Text Placeholder 15">
            <a:extLst>
              <a:ext uri="{FF2B5EF4-FFF2-40B4-BE49-F238E27FC236}">
                <a16:creationId xmlns:a16="http://schemas.microsoft.com/office/drawing/2014/main" id="{07A2FB37-D7D0-D120-A655-7C75B68BBD64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9341671" y="3440016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14">
            <a:extLst>
              <a:ext uri="{FF2B5EF4-FFF2-40B4-BE49-F238E27FC236}">
                <a16:creationId xmlns:a16="http://schemas.microsoft.com/office/drawing/2014/main" id="{03C7886B-E8EB-BF9C-5EAB-500C666EA069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8903448" y="3440016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7" name="Text Placeholder 15">
            <a:extLst>
              <a:ext uri="{FF2B5EF4-FFF2-40B4-BE49-F238E27FC236}">
                <a16:creationId xmlns:a16="http://schemas.microsoft.com/office/drawing/2014/main" id="{58188310-B4F5-84E8-1582-FA7CC5C711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341671" y="3873854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14">
            <a:extLst>
              <a:ext uri="{FF2B5EF4-FFF2-40B4-BE49-F238E27FC236}">
                <a16:creationId xmlns:a16="http://schemas.microsoft.com/office/drawing/2014/main" id="{D6AAACB1-04C7-44D6-2E19-7196D2FAE160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8903448" y="3873854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29" name="Text Placeholder 15">
            <a:extLst>
              <a:ext uri="{FF2B5EF4-FFF2-40B4-BE49-F238E27FC236}">
                <a16:creationId xmlns:a16="http://schemas.microsoft.com/office/drawing/2014/main" id="{66746C4A-1A2B-73F9-2735-FCADDF6790B5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9341671" y="4307692"/>
            <a:ext cx="2652130" cy="360000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17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14">
            <a:extLst>
              <a:ext uri="{FF2B5EF4-FFF2-40B4-BE49-F238E27FC236}">
                <a16:creationId xmlns:a16="http://schemas.microsoft.com/office/drawing/2014/main" id="{680C7AB2-4763-95A8-4FA3-AE9A97C677E3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8903448" y="4307692"/>
            <a:ext cx="360000" cy="360000"/>
          </a:xfrm>
        </p:spPr>
        <p:txBody>
          <a:bodyPr>
            <a:normAutofit/>
          </a:bodyPr>
          <a:lstStyle>
            <a:lvl1pPr>
              <a:defRPr sz="600" baseline="0"/>
            </a:lvl1pPr>
          </a:lstStyle>
          <a:p>
            <a:r>
              <a:rPr lang="en-US"/>
              <a:t>Click icon to add picture</a:t>
            </a:r>
            <a:endParaRPr lang="en-BE"/>
          </a:p>
        </p:txBody>
      </p:sp>
      <p:sp>
        <p:nvSpPr>
          <p:cNvPr id="31" name="Text Placeholder 15">
            <a:extLst>
              <a:ext uri="{FF2B5EF4-FFF2-40B4-BE49-F238E27FC236}">
                <a16:creationId xmlns:a16="http://schemas.microsoft.com/office/drawing/2014/main" id="{FDB81306-A097-1971-ACA8-4EBE7A81B91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8903448" y="4971369"/>
            <a:ext cx="2652130" cy="360000"/>
          </a:xfrm>
          <a:prstGeom prst="rect">
            <a:avLst/>
          </a:prstGeom>
        </p:spPr>
        <p:txBody>
          <a:bodyPr lIns="0">
            <a:noAutofit/>
          </a:bodyPr>
          <a:lstStyle>
            <a:lvl1pPr marL="0" indent="0">
              <a:lnSpc>
                <a:spcPct val="100000"/>
              </a:lnSpc>
              <a:spcBef>
                <a:spcPts val="0"/>
              </a:spcBef>
              <a:buNone/>
              <a:defRPr sz="2400" b="0" i="0" baseline="0">
                <a:solidFill>
                  <a:schemeClr val="bg1"/>
                </a:solidFill>
                <a:latin typeface="UGent Panno Text" panose="02000506040000040003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Afbeelding 17">
            <a:extLst>
              <a:ext uri="{FF2B5EF4-FFF2-40B4-BE49-F238E27FC236}">
                <a16:creationId xmlns:a16="http://schemas.microsoft.com/office/drawing/2014/main" id="{1268C458-54E6-556D-8781-D86A10F2D6A2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-3506" y="-39239"/>
            <a:ext cx="3126706" cy="1042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0700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2" pos="3840">
          <p15:clr>
            <a:srgbClr val="FBAE40"/>
          </p15:clr>
        </p15:guide>
        <p15:guide id="3" pos="21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el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nl-NL"/>
              <a:t>Klik om de stijl te bewerken</a:t>
            </a:r>
            <a:endParaRPr lang="de-DE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nl-NL"/>
              <a:t>Klik om de ondertitelstijl van het model te bewerken</a:t>
            </a:r>
            <a:endParaRPr lang="de-DE"/>
          </a:p>
        </p:txBody>
      </p:sp>
      <p:sp>
        <p:nvSpPr>
          <p:cNvPr id="4" name="Tijdelijke aanduiding voor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Tijdelijke aanduiding voor voettekst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de-DE"/>
              <a:t>hey</a:t>
            </a:r>
          </a:p>
        </p:txBody>
      </p:sp>
      <p:sp>
        <p:nvSpPr>
          <p:cNvPr id="6" name="Tijdelijke aanduiding voor dianumm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8000064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>
  <p:cSld name="Corporate Log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GB"/>
              <a:t>hey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E184E0-0BD4-4705-A12B-9B71DDE63301}" type="slidenum">
              <a:rPr lang="en-GB" smtClean="0"/>
              <a:t>‹#›</a:t>
            </a:fld>
            <a:endParaRPr lang="en-GB"/>
          </a:p>
        </p:txBody>
      </p:sp>
      <p:pic>
        <p:nvPicPr>
          <p:cNvPr id="9" name="Logo Large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89682" y="1599810"/>
            <a:ext cx="3840722" cy="2933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736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88064DE9-30A2-2B74-537F-01BD484D90F8}"/>
              </a:ext>
            </a:extLst>
          </p:cNvPr>
          <p:cNvPicPr>
            <a:picLocks noChangeAspect="1"/>
          </p:cNvPicPr>
          <p:nvPr/>
        </p:nvPicPr>
        <p:blipFill>
          <a:blip r:embed="rId14"/>
          <a:srcRect/>
          <a:stretch/>
        </p:blipFill>
        <p:spPr>
          <a:xfrm>
            <a:off x="43815" y="5632331"/>
            <a:ext cx="1531620" cy="1225554"/>
          </a:xfrm>
          <a:prstGeom prst="rect">
            <a:avLst/>
          </a:prstGeom>
        </p:spPr>
      </p:pic>
      <p:sp>
        <p:nvSpPr>
          <p:cNvPr id="18" name="Footer Placeholder 17">
            <a:extLst>
              <a:ext uri="{FF2B5EF4-FFF2-40B4-BE49-F238E27FC236}">
                <a16:creationId xmlns:a16="http://schemas.microsoft.com/office/drawing/2014/main" id="{854843F8-C4AC-387E-D09E-8057C939F3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856085" y="6356350"/>
            <a:ext cx="486496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r>
              <a:rPr lang="de-DE"/>
              <a:t>hey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9057CCB8-6D9D-26CA-514D-DC21CF29C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969622" y="6356350"/>
            <a:ext cx="13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fld id="{4CD814C8-F66B-4915-9FEC-D62A1DED085F}" type="slidenum">
              <a:rPr lang="de-DE" smtClean="0"/>
              <a:t>‹#›</a:t>
            </a:fld>
            <a:endParaRPr lang="de-DE"/>
          </a:p>
        </p:txBody>
      </p:sp>
      <p:sp>
        <p:nvSpPr>
          <p:cNvPr id="21" name="Date Placeholder 20">
            <a:extLst>
              <a:ext uri="{FF2B5EF4-FFF2-40B4-BE49-F238E27FC236}">
                <a16:creationId xmlns:a16="http://schemas.microsoft.com/office/drawing/2014/main" id="{9ACE937C-4427-1E12-DDEC-0A500F85C89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669002" y="6356350"/>
            <a:ext cx="293850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UGent Panno Text" panose="02000506040000040003" pitchFamily="2" charset="0"/>
              </a:defRPr>
            </a:lvl1pPr>
          </a:lstStyle>
          <a:p>
            <a:endParaRPr lang="de-DE"/>
          </a:p>
        </p:txBody>
      </p:sp>
      <p:sp>
        <p:nvSpPr>
          <p:cNvPr id="24" name="Title Placeholder 16">
            <a:extLst>
              <a:ext uri="{FF2B5EF4-FFF2-40B4-BE49-F238E27FC236}">
                <a16:creationId xmlns:a16="http://schemas.microsoft.com/office/drawing/2014/main" id="{7BD70135-BFF5-C1D3-7EAF-CD09E5AA0E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2609" y="365126"/>
            <a:ext cx="10811191" cy="7794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nl-NL" dirty="0"/>
              <a:t>Klik om stijl te bewerken</a:t>
            </a:r>
            <a:endParaRPr lang="en-BE" dirty="0"/>
          </a:p>
        </p:txBody>
      </p:sp>
      <p:sp>
        <p:nvSpPr>
          <p:cNvPr id="25" name="Text Placeholder 18">
            <a:extLst>
              <a:ext uri="{FF2B5EF4-FFF2-40B4-BE49-F238E27FC236}">
                <a16:creationId xmlns:a16="http://schemas.microsoft.com/office/drawing/2014/main" id="{79072CE6-E1B8-1EA7-B3C8-10C89DDC5E9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542609" y="1825625"/>
            <a:ext cx="10811191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nl-NL"/>
              <a:t>Klikken om de tekststijl van het model te bewerken</a:t>
            </a:r>
          </a:p>
          <a:p>
            <a:pPr lvl="1"/>
            <a:r>
              <a:rPr lang="nl-NL"/>
              <a:t>Tweede niveau</a:t>
            </a:r>
          </a:p>
          <a:p>
            <a:pPr lvl="2"/>
            <a:r>
              <a:rPr lang="nl-NL"/>
              <a:t>Derde niveau</a:t>
            </a:r>
          </a:p>
          <a:p>
            <a:pPr lvl="3"/>
            <a:r>
              <a:rPr lang="nl-NL"/>
              <a:t>Vierde niveau</a:t>
            </a:r>
          </a:p>
          <a:p>
            <a:pPr lvl="4"/>
            <a:r>
              <a:rPr lang="nl-NL"/>
              <a:t>Vijfde niveau</a:t>
            </a:r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343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hf sldNum="0" hdr="0" ftr="0" dt="0"/>
  <p:txStyles>
    <p:titleStyle>
      <a:lvl1pPr marL="0" marR="0" indent="0" algn="l" defTabSz="914400" rtl="0" eaLnBrk="1" fontAlgn="auto" latinLnBrk="0" hangingPunct="1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kern="1200" cap="none" baseline="0">
          <a:solidFill>
            <a:srgbClr val="1E64C8"/>
          </a:solidFill>
          <a:latin typeface="UGent Panno Text Medium" panose="02000506040000040003" pitchFamily="2" charset="0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None/>
        <a:defRPr sz="2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Clr>
          <a:srgbClr val="1E64C8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UGent Panno Text" panose="02000506040000040003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625078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Automated Tree Mapping and Measurement </a:t>
            </a:r>
            <a:endParaRPr lang="de-DE" dirty="0"/>
          </a:p>
        </p:txBody>
      </p:sp>
      <p:sp>
        <p:nvSpPr>
          <p:cNvPr id="3" name="Ondertitel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de-DE" dirty="0"/>
              <a:t>Group 6</a:t>
            </a:r>
          </a:p>
          <a:p>
            <a:r>
              <a:rPr lang="de-DE" dirty="0" err="1"/>
              <a:t>Biesemans</a:t>
            </a:r>
            <a:r>
              <a:rPr lang="de-DE" dirty="0"/>
              <a:t> Hannes, </a:t>
            </a:r>
            <a:r>
              <a:rPr lang="de-DE" dirty="0" err="1"/>
              <a:t>Ceule</a:t>
            </a:r>
            <a:r>
              <a:rPr lang="de-DE" dirty="0"/>
              <a:t> Alexander, </a:t>
            </a:r>
            <a:r>
              <a:rPr lang="de-DE" dirty="0" err="1"/>
              <a:t>Hendrickx</a:t>
            </a:r>
            <a:r>
              <a:rPr lang="de-DE" dirty="0"/>
              <a:t> Quinten, Ünal Kâni, </a:t>
            </a:r>
            <a:r>
              <a:rPr lang="de-DE" dirty="0" err="1"/>
              <a:t>Wannijn</a:t>
            </a:r>
            <a:r>
              <a:rPr lang="de-DE" dirty="0"/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335143903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7FC0210-01E4-415E-63B3-8F895E99A4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BE" dirty="0">
                <a:latin typeface="UGent Panno Text"/>
              </a:rPr>
              <a:t>Introduction</a:t>
            </a:r>
          </a:p>
          <a:p>
            <a:pPr marL="466725" lvl="1" indent="-457200"/>
            <a:r>
              <a:rPr lang="en-BE" dirty="0">
                <a:latin typeface="UGent Panno Text"/>
              </a:rPr>
              <a:t>Overview – System Workflow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Camera Calibration &amp; Tree Detection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Tree Tracking &amp; ID Assignment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Path Reconstruction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3D Localization &amp; DBH Estimation</a:t>
            </a:r>
            <a:endParaRPr lang="en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 dirty="0"/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409F16E-E39E-9BD4-D6D6-C4784F60BC4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23C491B8-D251-37F6-B6D5-1981696100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Gent Panno Text"/>
              </a:rPr>
              <a:t>Table of Contents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B00EEA9A-0DA8-45CC-DCDF-09926EFD64E6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38773166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BA489D8-D5BA-31DA-A908-50ACF46D8C18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AC831D3-0632-879F-58E2-D39615E5140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0230099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8454509-D784-F17C-49DB-FE130762719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BE" dirty="0">
                <a:latin typeface="UGent Panno Text"/>
              </a:rPr>
              <a:t>The Urgency of Tree Monitoring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Limits of Traditional Methods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Vison-Based Smart Mapping</a:t>
            </a:r>
          </a:p>
          <a:p>
            <a:pPr marL="466725" lvl="1" indent="-457200"/>
            <a:r>
              <a:rPr lang="en-BE" dirty="0">
                <a:latin typeface="UGent Panno Text"/>
              </a:rPr>
              <a:t>Towards Scalable Eco-Intelligence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B97F60C-335F-63E0-8B82-B345D676DFC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E628F669-6466-5054-4E5A-CFE681940B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F61C6DDA-0CA9-0BEF-4AC2-971BEBC9DB58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6" name="Afbeelding 5" descr="A Guide to Drone Mapping: Use Cases, Software, and Key Terminology [Updated  for 2024] - Drone Pilot Ground School">
            <a:extLst>
              <a:ext uri="{FF2B5EF4-FFF2-40B4-BE49-F238E27FC236}">
                <a16:creationId xmlns:a16="http://schemas.microsoft.com/office/drawing/2014/main" id="{CF1B014A-D956-9B6C-03A0-9716B90624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30184" y="2165372"/>
            <a:ext cx="5712240" cy="3235878"/>
          </a:xfrm>
          <a:prstGeom prst="rect">
            <a:avLst/>
          </a:prstGeom>
        </p:spPr>
      </p:pic>
      <p:sp>
        <p:nvSpPr>
          <p:cNvPr id="7" name="Tekstvak 6">
            <a:extLst>
              <a:ext uri="{FF2B5EF4-FFF2-40B4-BE49-F238E27FC236}">
                <a16:creationId xmlns:a16="http://schemas.microsoft.com/office/drawing/2014/main" id="{7C2291F1-0B5D-596F-C306-529A7E28F0F5}"/>
              </a:ext>
            </a:extLst>
          </p:cNvPr>
          <p:cNvSpPr txBox="1"/>
          <p:nvPr/>
        </p:nvSpPr>
        <p:spPr>
          <a:xfrm>
            <a:off x="6929719" y="5405283"/>
            <a:ext cx="451310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1200" err="1"/>
              <a:t>Mapping</a:t>
            </a:r>
            <a:r>
              <a:rPr lang="nl-NL" sz="1200"/>
              <a:t> </a:t>
            </a:r>
            <a:r>
              <a:rPr lang="nl-NL" sz="1200" err="1"/>
              <a:t>farming</a:t>
            </a:r>
            <a:r>
              <a:rPr lang="nl-NL" sz="1200"/>
              <a:t> fields </a:t>
            </a:r>
            <a:r>
              <a:rPr lang="nl-NL" sz="1200" err="1"/>
              <a:t>using</a:t>
            </a:r>
            <a:r>
              <a:rPr lang="nl-NL" sz="1200"/>
              <a:t> drones </a:t>
            </a:r>
            <a:r>
              <a:rPr lang="nl-NL" sz="1200">
                <a:ea typeface="+mn-lt"/>
                <a:cs typeface="+mn-lt"/>
              </a:rPr>
              <a:t>(</a:t>
            </a:r>
            <a:r>
              <a:rPr lang="nl-NL" sz="1200" err="1">
                <a:ea typeface="+mn-lt"/>
                <a:cs typeface="+mn-lt"/>
              </a:rPr>
              <a:t>Dukowitz</a:t>
            </a:r>
            <a:r>
              <a:rPr lang="nl-NL" sz="1200">
                <a:ea typeface="+mn-lt"/>
                <a:cs typeface="+mn-lt"/>
              </a:rPr>
              <a:t>, 2024)</a:t>
            </a:r>
            <a:endParaRPr lang="nl-NL" sz="1200"/>
          </a:p>
        </p:txBody>
      </p:sp>
    </p:spTree>
    <p:extLst>
      <p:ext uri="{BB962C8B-B14F-4D97-AF65-F5344CB8AC3E}">
        <p14:creationId xmlns:p14="http://schemas.microsoft.com/office/powerpoint/2010/main" val="17297900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7DAF44A-76E7-6586-F47A-4EB0773CA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3C91CD0-975A-5379-DC88-599404A9EEC9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125506"/>
            <a:ext cx="11413686" cy="5377195"/>
          </a:xfrm>
        </p:spPr>
        <p:txBody>
          <a:bodyPr/>
          <a:lstStyle/>
          <a:p>
            <a:r>
              <a:rPr lang="en-US" dirty="0"/>
              <a:t>Overview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39286193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9246A9-8706-E535-5F8D-1ACBBF5480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1AB64C8-1ABF-F6D7-D427-8666CFF62D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 dirty="0"/>
              <a:t>Preprocessing</a:t>
            </a:r>
          </a:p>
          <a:p>
            <a:pPr marL="1258888" lvl="2" indent="-457200"/>
            <a:r>
              <a:rPr lang="en-US" dirty="0"/>
              <a:t>Camera Calibration &amp; Tree Detection</a:t>
            </a:r>
          </a:p>
          <a:p>
            <a:pPr marL="466725" lvl="1" indent="-457200"/>
            <a:r>
              <a:rPr lang="en-US" dirty="0"/>
              <a:t>2D Mapping &amp; 3D Localization</a:t>
            </a:r>
          </a:p>
          <a:p>
            <a:pPr marL="466725" lvl="1" indent="-457200"/>
            <a:r>
              <a:rPr lang="en-US" dirty="0"/>
              <a:t>DBH Estimation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4C7AD8-74BF-6E6A-3FB3-5EEDAFD03174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System Workflow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65E47ED-DB8D-F390-3C89-890C4FE639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Overview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2BE2BB74-A1C6-1C3C-7F9B-3C5C464A38EC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B7768743-2D48-5FF7-C55B-B9124F8E92A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87895" y="1820289"/>
            <a:ext cx="4247820" cy="3928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1720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CDB6F19-10F9-2C85-D420-1514C141B1B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4196" y="125506"/>
            <a:ext cx="11413686" cy="5377195"/>
          </a:xfrm>
        </p:spPr>
        <p:txBody>
          <a:bodyPr/>
          <a:lstStyle/>
          <a:p>
            <a:r>
              <a:rPr lang="en-US" dirty="0"/>
              <a:t>Methodology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8272027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7FDA4-2C5F-7EBC-C026-E64C63BCE6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093284B-AE17-7412-00F0-801880A797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 dirty="0"/>
              <a:t>Camera’s internal characteristics</a:t>
            </a:r>
          </a:p>
          <a:p>
            <a:pPr marL="466725" lvl="1" indent="-457200"/>
            <a:r>
              <a:rPr lang="en-US" dirty="0"/>
              <a:t>checkerboard pattern -&gt; camera matrix K and distortion coefficients D</a:t>
            </a:r>
          </a:p>
          <a:p>
            <a:pPr marL="466725" lvl="1" indent="-457200"/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EBF603B-BEF0-4771-DD56-69A08252FC78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Camera Calibration &amp; Tree Detection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C3BA4AB4-8E1B-6A51-1DFD-CFB634A131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B5DBF1B7-4F48-1EA3-CA7F-49420ED09D41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40890645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452781-3CF6-EA23-9412-627FA18C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6C79AA1-4A8A-E02E-347D-88741D7FAD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 dirty="0"/>
              <a:t>Dataset Curation and Annotation</a:t>
            </a:r>
          </a:p>
          <a:p>
            <a:pPr marL="466725" lvl="1" indent="-457200"/>
            <a:r>
              <a:rPr lang="en-US" dirty="0"/>
              <a:t>Data Augmentation</a:t>
            </a:r>
          </a:p>
          <a:p>
            <a:pPr marL="466725" lvl="1" indent="-457200"/>
            <a:r>
              <a:rPr lang="en-US" dirty="0"/>
              <a:t>Model Selection and Fine-Tuning</a:t>
            </a:r>
          </a:p>
          <a:p>
            <a:pPr marL="466725" lvl="1" indent="-457200"/>
            <a:r>
              <a:rPr lang="en-US" dirty="0"/>
              <a:t>Model Output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2C16B1-C225-7AE0-F591-08F106B82D12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Camera Calibration &amp; Tree Detection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86A44925-8B1B-279A-7001-2EEB65B2E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19F54D47-FCEB-BC8D-26F1-703D235EB0B0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2B33735-0768-8B81-7A4C-F9B7D1B618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2744" y="1889759"/>
            <a:ext cx="6042971" cy="31394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552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D06AE9-7C38-D83C-3924-914C0970F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1747FD1-583B-3912-8B82-B518339FC2E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2609" y="1889759"/>
            <a:ext cx="6476756" cy="3789681"/>
          </a:xfrm>
        </p:spPr>
        <p:txBody>
          <a:bodyPr/>
          <a:lstStyle/>
          <a:p>
            <a:pPr marL="466725" lvl="1" indent="-457200"/>
            <a:r>
              <a:rPr lang="en-US" dirty="0"/>
              <a:t>Mechanism: </a:t>
            </a:r>
            <a:r>
              <a:rPr lang="en-US" dirty="0" err="1"/>
              <a:t>BasicTracker</a:t>
            </a:r>
            <a:r>
              <a:rPr lang="en-US" dirty="0"/>
              <a:t> Module</a:t>
            </a:r>
          </a:p>
          <a:p>
            <a:pPr marL="1258888" lvl="2" indent="-457200"/>
            <a:r>
              <a:rPr lang="en-US" dirty="0"/>
              <a:t>Intersection over Union (</a:t>
            </a:r>
            <a:r>
              <a:rPr lang="en-US" dirty="0" err="1"/>
              <a:t>IoU</a:t>
            </a:r>
            <a:r>
              <a:rPr lang="en-US" dirty="0"/>
              <a:t>) metric</a:t>
            </a:r>
          </a:p>
          <a:p>
            <a:pPr marL="1258888" lvl="2" indent="-457200">
              <a:buFont typeface="+mj-lt"/>
              <a:buAutoNum type="arabicPeriod"/>
            </a:pPr>
            <a:r>
              <a:rPr lang="en-US" dirty="0"/>
              <a:t>The track’s </a:t>
            </a:r>
            <a:r>
              <a:rPr lang="en-US" dirty="0" err="1"/>
              <a:t>bbox</a:t>
            </a:r>
            <a:r>
              <a:rPr lang="en-US" dirty="0"/>
              <a:t> is updated to the coordinates of the matched new detection. </a:t>
            </a:r>
          </a:p>
          <a:p>
            <a:pPr marL="1258888" lvl="2" indent="-457200">
              <a:buFont typeface="+mj-lt"/>
              <a:buAutoNum type="arabicPeriod"/>
            </a:pPr>
            <a:r>
              <a:rPr lang="en-US" dirty="0"/>
              <a:t>Its staleness counter is reset to zero, indicating it has been successfully re-identified. </a:t>
            </a:r>
          </a:p>
          <a:p>
            <a:pPr marL="1258888" lvl="2" indent="-457200">
              <a:buFont typeface="+mj-lt"/>
              <a:buAutoNum type="arabicPeriod"/>
            </a:pPr>
            <a:r>
              <a:rPr lang="en-US" dirty="0"/>
              <a:t>The </a:t>
            </a:r>
            <a:r>
              <a:rPr lang="en-US" dirty="0" err="1"/>
              <a:t>frames_seen</a:t>
            </a:r>
            <a:r>
              <a:rPr lang="en-US" dirty="0"/>
              <a:t> counter is incremented.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4EE031F-CF43-DE89-B80C-594F294DF9F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Tree Tracking &amp; ID Assignment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B1EB4598-ED3F-1082-09B6-340C6AA040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BE" dirty="0"/>
          </a:p>
        </p:txBody>
      </p:sp>
      <p:sp>
        <p:nvSpPr>
          <p:cNvPr id="6" name="Ondertitel 2">
            <a:extLst>
              <a:ext uri="{FF2B5EF4-FFF2-40B4-BE49-F238E27FC236}">
                <a16:creationId xmlns:a16="http://schemas.microsoft.com/office/drawing/2014/main" id="{6A860AAA-2729-3899-3CC4-4FC3130BE5E3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462835A1-0636-1AA5-BDD1-ACBB3CEC855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19365" y="1889759"/>
            <a:ext cx="4547437" cy="34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6026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8A016D-D247-DCC1-DB23-58264CF04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17F18C3-00CE-03C0-1728-796A448429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nl-BE" dirty="0"/>
              <a:t>SIFT </a:t>
            </a:r>
            <a:r>
              <a:rPr lang="nl-BE" dirty="0" err="1"/>
              <a:t>keypoints</a:t>
            </a:r>
            <a:endParaRPr lang="nl-BE" dirty="0"/>
          </a:p>
          <a:p>
            <a:pPr marL="466725" lvl="1" indent="-457200"/>
            <a:r>
              <a:rPr lang="nl-BE" dirty="0"/>
              <a:t>Feature matching</a:t>
            </a:r>
          </a:p>
          <a:p>
            <a:pPr marL="466725" lvl="1" indent="-457200"/>
            <a:r>
              <a:rPr lang="nl-BE" dirty="0" err="1"/>
              <a:t>Essential</a:t>
            </a:r>
            <a:r>
              <a:rPr lang="nl-BE" dirty="0"/>
              <a:t> matrix </a:t>
            </a:r>
            <a:r>
              <a:rPr lang="nl-BE" dirty="0" err="1"/>
              <a:t>decomposition</a:t>
            </a:r>
            <a:endParaRPr lang="nl-BE" dirty="0"/>
          </a:p>
          <a:p>
            <a:pPr marL="466725" lvl="1" indent="-457200"/>
            <a:r>
              <a:rPr lang="nl-BE" dirty="0" err="1"/>
              <a:t>Metric</a:t>
            </a:r>
            <a:r>
              <a:rPr lang="nl-BE" dirty="0"/>
              <a:t> </a:t>
            </a:r>
            <a:r>
              <a:rPr lang="nl-BE" dirty="0" err="1"/>
              <a:t>scale</a:t>
            </a:r>
            <a:r>
              <a:rPr lang="nl-BE" dirty="0"/>
              <a:t> recovery</a:t>
            </a:r>
          </a:p>
          <a:p>
            <a:pPr marL="466725" lvl="1" indent="-457200"/>
            <a:r>
              <a:rPr lang="nl-BE" dirty="0"/>
              <a:t>Global pose </a:t>
            </a:r>
            <a:r>
              <a:rPr lang="nl-BE" dirty="0" err="1"/>
              <a:t>estimation</a:t>
            </a:r>
            <a:endParaRPr lang="nl-BE" dirty="0"/>
          </a:p>
          <a:p>
            <a:pPr marL="466725" lvl="1" indent="-457200"/>
            <a:r>
              <a:rPr lang="nl-BE" dirty="0"/>
              <a:t>Output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0FEE91-B0AB-51B4-2B86-A489D1641AB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Path Reconstruction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3C349F0F-E290-1CD4-87F9-3507F7245F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D2A23ED9-257C-75DF-C2B7-89D530F47052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8" name="Afbeelding 7">
            <a:extLst>
              <a:ext uri="{FF2B5EF4-FFF2-40B4-BE49-F238E27FC236}">
                <a16:creationId xmlns:a16="http://schemas.microsoft.com/office/drawing/2014/main" id="{767C31C9-F022-47B4-A6CC-8596A2FB6E7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405" y="757628"/>
            <a:ext cx="5062285" cy="495022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14274351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4E12E8-5EE3-D5AC-556D-ECF210BF8B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1F521A-2472-02C4-80CE-4F9C785FC4B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466725" lvl="1" indent="-457200"/>
                <a:r>
                  <a:rPr lang="en-US" dirty="0"/>
                  <a:t>3D Localization</a:t>
                </a:r>
              </a:p>
              <a:p>
                <a:pPr marL="1258888" lvl="2" indent="-457200"/>
                <a:r>
                  <a:rPr lang="en-US" dirty="0"/>
                  <a:t>Triangulation </a:t>
                </a:r>
              </a:p>
              <a:p>
                <a:pPr marL="1258888" lvl="2" indent="-457200"/>
                <a:r>
                  <a:rPr lang="en-US" dirty="0"/>
                  <a:t>2D image coordinates from 2 views</a:t>
                </a:r>
              </a:p>
              <a:p>
                <a:pPr marL="1258888" lvl="2" indent="-457200"/>
                <a:r>
                  <a:rPr lang="en-US" dirty="0"/>
                  <a:t>Scaled camera poses </a:t>
                </a:r>
              </a:p>
              <a:p>
                <a:pPr marL="466725" lvl="1" indent="-457200"/>
                <a:r>
                  <a:rPr lang="en-US" dirty="0"/>
                  <a:t>DBH Estimation</a:t>
                </a:r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 dirty="0"/>
                  <a:t>Find Tree Base</a:t>
                </a:r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 dirty="0"/>
                  <a:t>Project DBH Height	​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l-GR" b="0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Δ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𝑣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𝑦</m:t>
                            </m:r>
                          </m:sub>
                        </m:s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𝐻</m:t>
                        </m:r>
                      </m:num>
                      <m:den>
                        <m:sSub>
                          <m:sSubPr>
                            <m:ctrlP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𝑏𝑎𝑠𝑒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 dirty="0"/>
                  <a:t>Measure Pixel Width</a:t>
                </a:r>
              </a:p>
              <a:p>
                <a:pPr marL="1258888" lvl="2" indent="-457200">
                  <a:buFont typeface="+mj-lt"/>
                  <a:buAutoNum type="arabicPeriod"/>
                </a:pPr>
                <a:r>
                  <a:rPr lang="en-US" dirty="0"/>
                  <a:t>Convert to Meters	 ​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b="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𝑊</m:t>
                        </m:r>
                      </m:e>
                      <m:sub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𝑟𝑒𝑎𝑙</m:t>
                        </m:r>
                      </m:sub>
                    </m:sSub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𝑤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𝑝𝑥</m:t>
                            </m:r>
                          </m:sub>
                        </m:sSub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dirty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∙ </m:t>
                        </m:r>
                        <m:sSub>
                          <m:sSub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𝑍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𝐷𝐵𝐻</m:t>
                            </m:r>
                          </m:sub>
                        </m:sSub>
                      </m:num>
                      <m:den>
                        <m:sSub>
                          <m:sSub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en-US" b="0" i="1" dirty="0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den>
                    </m:f>
                  </m:oMath>
                </a14:m>
                <a:endParaRPr lang="en-US" dirty="0"/>
              </a:p>
            </p:txBody>
          </p:sp>
        </mc:Choice>
        <mc:Fallback xmlns="">
          <p:sp>
            <p:nvSpPr>
              <p:cNvPr id="2" name="Content Placeholder 1">
                <a:extLst>
                  <a:ext uri="{FF2B5EF4-FFF2-40B4-BE49-F238E27FC236}">
                    <a16:creationId xmlns:a16="http://schemas.microsoft.com/office/drawing/2014/main" id="{141F521A-2472-02C4-80CE-4F9C785FC4B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616" t="-2251"/>
                </a:stretch>
              </a:blipFill>
            </p:spPr>
            <p:txBody>
              <a:bodyPr/>
              <a:lstStyle/>
              <a:p>
                <a:r>
                  <a:rPr lang="en-B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EE53B3-69F7-D1CF-0CF5-8C811D257B3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US" dirty="0"/>
              <a:t>3D Localization &amp; DBH Estimation</a:t>
            </a:r>
            <a:endParaRPr lang="en-BE" dirty="0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F1A3BF3D-BA86-FFEF-8DED-1AE8E863FD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Methodology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22CCE032-8A63-9C5C-81B9-55F9E7CA5FC7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6F52B3C-41DD-B037-4364-3C3FB6DD1B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8278" y="1640189"/>
            <a:ext cx="4547437" cy="3498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9742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8F2E0EDE-8DAE-0FF6-7F9B-B56093807E46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2477310-00E3-EC24-234B-332C5470DC1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Results 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42803501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9759FA-2D10-268E-79E7-7D221E758A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2447594-DE0A-1A91-B902-EA2BC13A52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466725" lvl="1" indent="-457200"/>
            <a:r>
              <a:rPr lang="en-US" dirty="0"/>
              <a:t>Demo with video</a:t>
            </a:r>
          </a:p>
          <a:p>
            <a:pPr marL="466725" lvl="1" indent="-457200"/>
            <a:r>
              <a:rPr lang="en-US" dirty="0"/>
              <a:t>Top-down map</a:t>
            </a:r>
          </a:p>
          <a:p>
            <a:pPr marL="466725" lvl="1" indent="-457200"/>
            <a:r>
              <a:rPr lang="en-US" dirty="0"/>
              <a:t>Csv file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2B232B6-27ED-22CD-0253-AFAC714B4BAC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0320DDA7-85DA-689B-98D7-BB7F92E405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98D5E417-3218-9DEB-4A7B-3FECD7CC921D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7" name="Afbeelding 7">
            <a:extLst>
              <a:ext uri="{FF2B5EF4-FFF2-40B4-BE49-F238E27FC236}">
                <a16:creationId xmlns:a16="http://schemas.microsoft.com/office/drawing/2014/main" id="{F56414F2-C187-7B36-1F05-E6CA910FA4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8405" y="757628"/>
            <a:ext cx="5062285" cy="4950229"/>
          </a:xfrm>
          <a:prstGeom prst="rect">
            <a:avLst/>
          </a:prstGeom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5783320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61E6DBE4-C559-279D-2E75-091AF8C9CC1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2F8A3A-97AC-9F8B-E58B-10D7CB4E7BB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/>
              <a:t>Conclusion</a:t>
            </a:r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198201873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E1934D-78EA-1D31-504D-ACBAD597CC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205C9B-7B83-DD26-0AAC-3906571F77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pPr marL="466725" lvl="1" indent="-457200"/>
            <a:r>
              <a:rPr lang="en-BE" dirty="0">
                <a:latin typeface="UGent Panno Text"/>
              </a:rPr>
              <a:t>Proof of Concept Success</a:t>
            </a:r>
          </a:p>
          <a:p>
            <a:pPr marL="466725" lvl="1" indent="-457200"/>
            <a:r>
              <a:rPr lang="en-BE" dirty="0">
                <a:latin typeface="UGent Panno Text"/>
              </a:rPr>
              <a:t>Low-Cost, Scalable Potential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Current Limitations</a:t>
            </a:r>
            <a:endParaRPr lang="en-BE" dirty="0"/>
          </a:p>
          <a:p>
            <a:pPr marL="466725" lvl="1" indent="-457200"/>
            <a:r>
              <a:rPr lang="en-BE" dirty="0">
                <a:latin typeface="UGent Panno Text"/>
              </a:rPr>
              <a:t>Future Expansion Paths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020764-BDA0-EC8B-A59B-299688C2CAB6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en-BE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A611D5-920D-C621-3D96-CC711BCCE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latin typeface="UGent Panno Text"/>
              </a:rPr>
              <a:t>Conclusion &amp; Future Expansion</a:t>
            </a:r>
            <a:endParaRPr lang="en-BE" dirty="0"/>
          </a:p>
        </p:txBody>
      </p:sp>
      <p:sp>
        <p:nvSpPr>
          <p:cNvPr id="5" name="Ondertitel 2">
            <a:extLst>
              <a:ext uri="{FF2B5EF4-FFF2-40B4-BE49-F238E27FC236}">
                <a16:creationId xmlns:a16="http://schemas.microsoft.com/office/drawing/2014/main" id="{79A88DFE-41D4-DF36-CACD-C34805E29A40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dirty="0" err="1"/>
              <a:t>Biesemans</a:t>
            </a:r>
            <a:r>
              <a:rPr lang="de-DE" sz="2400" dirty="0"/>
              <a:t> Hannes - </a:t>
            </a:r>
            <a:r>
              <a:rPr lang="de-DE" sz="2400" dirty="0" err="1"/>
              <a:t>Ceule</a:t>
            </a:r>
            <a:r>
              <a:rPr lang="de-DE" sz="2400" dirty="0"/>
              <a:t> Alexander - </a:t>
            </a:r>
            <a:r>
              <a:rPr lang="de-DE" sz="2400" dirty="0" err="1"/>
              <a:t>Hendrickx</a:t>
            </a:r>
            <a:r>
              <a:rPr lang="de-DE" sz="2400" dirty="0"/>
              <a:t> Quinten - Ünal Kâni - </a:t>
            </a:r>
            <a:r>
              <a:rPr lang="de-DE" sz="2400" dirty="0" err="1"/>
              <a:t>Wannijn</a:t>
            </a:r>
            <a:r>
              <a:rPr lang="de-DE" sz="2400" dirty="0"/>
              <a:t> Anton</a:t>
            </a:r>
          </a:p>
        </p:txBody>
      </p:sp>
      <p:pic>
        <p:nvPicPr>
          <p:cNvPr id="6" name="Afbeelding 5" descr="Purdue team introduces advance in automatic forest mapping technology - News">
            <a:extLst>
              <a:ext uri="{FF2B5EF4-FFF2-40B4-BE49-F238E27FC236}">
                <a16:creationId xmlns:a16="http://schemas.microsoft.com/office/drawing/2014/main" id="{88A503C6-4F3A-AACB-D53D-65BB609CCFEA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6223" t="6792" r="10944" b="6038"/>
          <a:stretch>
            <a:fillRect/>
          </a:stretch>
        </p:blipFill>
        <p:spPr>
          <a:xfrm>
            <a:off x="6251069" y="1888367"/>
            <a:ext cx="5192727" cy="3082670"/>
          </a:xfrm>
          <a:prstGeom prst="rect">
            <a:avLst/>
          </a:prstGeom>
        </p:spPr>
      </p:pic>
      <p:sp>
        <p:nvSpPr>
          <p:cNvPr id="8" name="Tekstvak 7">
            <a:extLst>
              <a:ext uri="{FF2B5EF4-FFF2-40B4-BE49-F238E27FC236}">
                <a16:creationId xmlns:a16="http://schemas.microsoft.com/office/drawing/2014/main" id="{002FFAB5-C6C0-7F0C-334E-051B14379789}"/>
              </a:ext>
            </a:extLst>
          </p:cNvPr>
          <p:cNvSpPr txBox="1"/>
          <p:nvPr/>
        </p:nvSpPr>
        <p:spPr>
          <a:xfrm>
            <a:off x="7511802" y="4981950"/>
            <a:ext cx="4513103" cy="2769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nl-NL" sz="1200"/>
              <a:t>Automatic </a:t>
            </a:r>
            <a:r>
              <a:rPr lang="nl-NL" sz="1200" err="1"/>
              <a:t>Forest</a:t>
            </a:r>
            <a:r>
              <a:rPr lang="nl-NL" sz="1200"/>
              <a:t> </a:t>
            </a:r>
            <a:r>
              <a:rPr lang="nl-NL" sz="1200" err="1"/>
              <a:t>Mapping</a:t>
            </a:r>
            <a:r>
              <a:rPr lang="nl-NL" sz="1200"/>
              <a:t> </a:t>
            </a:r>
            <a:r>
              <a:rPr lang="nl-NL" sz="1200">
                <a:ea typeface="+mn-lt"/>
                <a:cs typeface="+mn-lt"/>
              </a:rPr>
              <a:t>(Gilles, 2024)</a:t>
            </a:r>
            <a:endParaRPr lang="nl-NL" sz="1200"/>
          </a:p>
        </p:txBody>
      </p:sp>
    </p:spTree>
    <p:extLst>
      <p:ext uri="{BB962C8B-B14F-4D97-AF65-F5344CB8AC3E}">
        <p14:creationId xmlns:p14="http://schemas.microsoft.com/office/powerpoint/2010/main" val="72176674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F32F4CBF-0D8A-B4C2-4ED6-B0254A7AD5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GB" sz="2000">
                <a:latin typeface="UGent Panno Text"/>
              </a:rPr>
              <a:t>[1] Dukowitz, Z. (2024, December 17). A Guide to Drone Mapping: Use Cases, Software, and Key Terminology [Updated for   2024]. Drone Pilot Ground School. https://www.dronepilotgroundschool.com/drone-mapping-software/</a:t>
            </a:r>
          </a:p>
          <a:p>
            <a:r>
              <a:rPr lang="en-GB" sz="2000">
                <a:latin typeface="UGent Panno Text"/>
              </a:rPr>
              <a:t>[2] Gilles, N. E. (2024, July 23). Purdue team introduces advance in automatic forest mapping technology - News.</a:t>
            </a:r>
            <a:br>
              <a:rPr lang="en-GB" sz="2000">
                <a:latin typeface="UGent Panno Text"/>
              </a:rPr>
            </a:br>
            <a:r>
              <a:rPr lang="en-GB" sz="2000">
                <a:latin typeface="UGent Panno Text"/>
              </a:rPr>
              <a:t>  News. https://www.purdue.edu/newsroom/2022/Q4/purdue-team-introduces-advance-in-automatic-forest-mapping-</a:t>
            </a:r>
            <a:br>
              <a:rPr lang="en-GB" sz="2000">
                <a:latin typeface="UGent Panno Text"/>
              </a:rPr>
            </a:br>
            <a:r>
              <a:rPr lang="en-GB" sz="2000">
                <a:latin typeface="UGent Panno Text"/>
              </a:rPr>
              <a:t>  technology/</a:t>
            </a:r>
            <a:endParaRPr lang="en-GB" sz="2000"/>
          </a:p>
          <a:p>
            <a:endParaRPr lang="en-GB"/>
          </a:p>
          <a:p>
            <a:endParaRPr lang="nl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A35B4D-91D9-0177-8D7E-28C4F8A1AA0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531F16C3-EF9A-C6C5-0E87-7136FE6458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err="1">
                <a:latin typeface="UGent Panno Text"/>
              </a:rPr>
              <a:t>References</a:t>
            </a:r>
            <a:endParaRPr lang="nl-NL" err="1"/>
          </a:p>
        </p:txBody>
      </p:sp>
    </p:spTree>
    <p:extLst>
      <p:ext uri="{BB962C8B-B14F-4D97-AF65-F5344CB8AC3E}">
        <p14:creationId xmlns:p14="http://schemas.microsoft.com/office/powerpoint/2010/main" val="355101121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13851D-8CBB-6832-25B1-BD6AE86ABE0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nl-NL" err="1">
                <a:latin typeface="UGent Panno Text"/>
              </a:rPr>
              <a:t>UGhent</a:t>
            </a:r>
            <a:r>
              <a:rPr lang="nl-NL">
                <a:latin typeface="UGent Panno Text"/>
              </a:rPr>
              <a:t> </a:t>
            </a:r>
            <a:r>
              <a:rPr lang="nl-NL" err="1">
                <a:latin typeface="UGent Panno Text"/>
              </a:rPr>
              <a:t>Faculty</a:t>
            </a:r>
            <a:r>
              <a:rPr lang="nl-NL">
                <a:latin typeface="UGent Panno Text"/>
              </a:rPr>
              <a:t> of Engineering </a:t>
            </a:r>
            <a:r>
              <a:rPr lang="nl-NL" err="1">
                <a:latin typeface="UGent Panno Text"/>
              </a:rPr>
              <a:t>and</a:t>
            </a:r>
            <a:r>
              <a:rPr lang="nl-NL">
                <a:latin typeface="UGent Panno Text"/>
              </a:rPr>
              <a:t> Architecture</a:t>
            </a:r>
            <a:endParaRPr lang="nl-NL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200302A-5D14-0CE9-73A8-591255D9E1CB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nl-NL" err="1">
                <a:latin typeface="UGent Panno Text"/>
              </a:rPr>
              <a:t>Computervision</a:t>
            </a:r>
            <a:r>
              <a:rPr lang="nl-NL">
                <a:latin typeface="UGent Panno Text"/>
              </a:rPr>
              <a:t> Project</a:t>
            </a:r>
            <a:endParaRPr lang="nl-NL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D012C75-E86D-F968-ECCF-FC1DF83A39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nl-NL">
                <a:latin typeface="UGent Panno Text"/>
              </a:rPr>
              <a:t>Group 6</a:t>
            </a:r>
            <a:endParaRPr lang="nl-NL"/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75D013EF-2CD6-7B0F-7E31-19E000275F2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nl-NL" err="1">
                <a:latin typeface="UGent Panno Text"/>
              </a:rPr>
              <a:t>Automated</a:t>
            </a:r>
            <a:r>
              <a:rPr lang="nl-NL">
                <a:latin typeface="UGent Panno Text"/>
              </a:rPr>
              <a:t> Tree </a:t>
            </a:r>
            <a:r>
              <a:rPr lang="nl-NL" err="1">
                <a:latin typeface="UGent Panno Text"/>
              </a:rPr>
              <a:t>Mapping</a:t>
            </a:r>
            <a:r>
              <a:rPr lang="nl-NL">
                <a:latin typeface="UGent Panno Text"/>
              </a:rPr>
              <a:t> </a:t>
            </a:r>
            <a:r>
              <a:rPr lang="nl-NL" err="1">
                <a:latin typeface="UGent Panno Text"/>
              </a:rPr>
              <a:t>and</a:t>
            </a:r>
            <a:r>
              <a:rPr lang="nl-NL">
                <a:latin typeface="UGent Panno Text"/>
              </a:rPr>
              <a:t> </a:t>
            </a:r>
            <a:r>
              <a:rPr lang="nl-NL" err="1">
                <a:latin typeface="UGent Panno Text"/>
              </a:rPr>
              <a:t>Measurement</a:t>
            </a:r>
            <a:r>
              <a:rPr lang="nl-NL">
                <a:latin typeface="UGent Panno Text"/>
              </a:rPr>
              <a:t> </a:t>
            </a:r>
          </a:p>
        </p:txBody>
      </p:sp>
      <p:sp>
        <p:nvSpPr>
          <p:cNvPr id="11" name="Ondertitel 2">
            <a:extLst>
              <a:ext uri="{FF2B5EF4-FFF2-40B4-BE49-F238E27FC236}">
                <a16:creationId xmlns:a16="http://schemas.microsoft.com/office/drawing/2014/main" id="{1F038659-968C-3234-E7C6-8B90BF928C4F}"/>
              </a:ext>
            </a:extLst>
          </p:cNvPr>
          <p:cNvSpPr txBox="1">
            <a:spLocks/>
          </p:cNvSpPr>
          <p:nvPr/>
        </p:nvSpPr>
        <p:spPr>
          <a:xfrm>
            <a:off x="1548837" y="6174978"/>
            <a:ext cx="9094325" cy="4320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defPPr>
              <a:defRPr lang="en-BE"/>
            </a:defPPr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1pPr>
            <a:lvl2pPr marL="9525" indent="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4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2pPr>
            <a:lvl3pPr marL="801688" indent="-2635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tabLst/>
              <a:defRPr sz="20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E64C8"/>
              </a:buClr>
              <a:buFont typeface="Arial" panose="020B0604020202020204" pitchFamily="34" charset="0"/>
              <a:buChar char="•"/>
              <a:defRPr sz="1800" kern="1200" baseline="0">
                <a:solidFill>
                  <a:schemeClr val="tx1"/>
                </a:solidFill>
                <a:latin typeface="UGent Panno Text" panose="02000506040000040003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de-DE" sz="2400" err="1"/>
              <a:t>Biesemans</a:t>
            </a:r>
            <a:r>
              <a:rPr lang="de-DE" sz="2400"/>
              <a:t> Hannes - </a:t>
            </a:r>
            <a:r>
              <a:rPr lang="de-DE" sz="2400" err="1"/>
              <a:t>Ceule</a:t>
            </a:r>
            <a:r>
              <a:rPr lang="de-DE" sz="2400"/>
              <a:t> Alexander - </a:t>
            </a:r>
            <a:r>
              <a:rPr lang="de-DE" sz="2400" err="1"/>
              <a:t>Hendrickx</a:t>
            </a:r>
            <a:r>
              <a:rPr lang="de-DE" sz="2400"/>
              <a:t> Quinten - Ünal Kâni - </a:t>
            </a:r>
            <a:r>
              <a:rPr lang="de-DE" sz="2400" err="1"/>
              <a:t>Wannijn</a:t>
            </a:r>
            <a:r>
              <a:rPr lang="de-DE" sz="2400"/>
              <a:t> Anton</a:t>
            </a:r>
          </a:p>
        </p:txBody>
      </p:sp>
    </p:spTree>
    <p:extLst>
      <p:ext uri="{BB962C8B-B14F-4D97-AF65-F5344CB8AC3E}">
        <p14:creationId xmlns:p14="http://schemas.microsoft.com/office/powerpoint/2010/main" val="4192948464"/>
      </p:ext>
    </p:extLst>
  </p:cSld>
  <p:clrMapOvr>
    <a:masterClrMapping/>
  </p:clrMapOvr>
</p:sld>
</file>

<file path=ppt/theme/theme1.xml><?xml version="1.0" encoding="utf-8"?>
<a:theme xmlns:a="http://schemas.openxmlformats.org/drawingml/2006/main" name="Kantoorthema">
  <a:themeElements>
    <a:clrScheme name="UGent FAC">
      <a:dk1>
        <a:srgbClr val="000000"/>
      </a:dk1>
      <a:lt1>
        <a:srgbClr val="FFFFFF"/>
      </a:lt1>
      <a:dk2>
        <a:srgbClr val="1E64C8"/>
      </a:dk2>
      <a:lt2>
        <a:srgbClr val="FFFFFF"/>
      </a:lt2>
      <a:accent1>
        <a:srgbClr val="F1A32B"/>
      </a:accent1>
      <a:accent2>
        <a:srgbClr val="DC4E31"/>
      </a:accent2>
      <a:accent3>
        <a:srgbClr val="2C8CA5"/>
      </a:accent3>
      <a:accent4>
        <a:srgbClr val="E85E71"/>
      </a:accent4>
      <a:accent5>
        <a:srgbClr val="8BBED5"/>
      </a:accent5>
      <a:accent6>
        <a:srgbClr val="AEB047"/>
      </a:accent6>
      <a:hlink>
        <a:srgbClr val="1E64C8"/>
      </a:hlink>
      <a:folHlink>
        <a:srgbClr val="1E64C8"/>
      </a:folHlink>
    </a:clrScheme>
    <a:fontScheme name="UGent">
      <a:majorFont>
        <a:latin typeface="UGent Panno Text SemiBold"/>
        <a:ea typeface=""/>
        <a:cs typeface=""/>
      </a:majorFont>
      <a:minorFont>
        <a:latin typeface="UGent Panno Tex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e1" id="{CADDFB91-C688-4600-9637-E64F35C1E4BE}" vid="{E1B6215B-46C5-4A02-9A90-726F133FF51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458</TotalTime>
  <Words>545</Words>
  <Application>Microsoft Office PowerPoint</Application>
  <PresentationFormat>Widescreen</PresentationFormat>
  <Paragraphs>93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Kantoorthema</vt:lpstr>
      <vt:lpstr>PowerPoint Presentation</vt:lpstr>
      <vt:lpstr>Automated Tree Mapping and Measurement </vt:lpstr>
      <vt:lpstr>Table of Contents</vt:lpstr>
      <vt:lpstr>PowerPoint Presentation</vt:lpstr>
      <vt:lpstr>Introduction</vt:lpstr>
      <vt:lpstr>PowerPoint Presentation</vt:lpstr>
      <vt:lpstr>Overview</vt:lpstr>
      <vt:lpstr>PowerPoint Presentation</vt:lpstr>
      <vt:lpstr>Methodology</vt:lpstr>
      <vt:lpstr>Methodology</vt:lpstr>
      <vt:lpstr>Methodology</vt:lpstr>
      <vt:lpstr>Methodology</vt:lpstr>
      <vt:lpstr>Methodology</vt:lpstr>
      <vt:lpstr>PowerPoint Presentation</vt:lpstr>
      <vt:lpstr>Results</vt:lpstr>
      <vt:lpstr>PowerPoint Presentation</vt:lpstr>
      <vt:lpstr>Conclusion &amp; Future Expansion</vt:lpstr>
      <vt:lpstr>References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Kâni Ünal</cp:lastModifiedBy>
  <cp:revision>2</cp:revision>
  <dcterms:created xsi:type="dcterms:W3CDTF">2025-06-08T12:21:11Z</dcterms:created>
  <dcterms:modified xsi:type="dcterms:W3CDTF">2025-06-10T03:14:45Z</dcterms:modified>
</cp:coreProperties>
</file>