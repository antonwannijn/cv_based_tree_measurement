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9" r:id="rId2"/>
    <p:sldId id="256" r:id="rId3"/>
    <p:sldId id="261" r:id="rId4"/>
    <p:sldId id="266" r:id="rId5"/>
    <p:sldId id="260" r:id="rId6"/>
    <p:sldId id="274" r:id="rId7"/>
    <p:sldId id="273" r:id="rId8"/>
    <p:sldId id="262" r:id="rId9"/>
    <p:sldId id="267" r:id="rId10"/>
    <p:sldId id="275" r:id="rId11"/>
    <p:sldId id="278" r:id="rId12"/>
    <p:sldId id="272" r:id="rId13"/>
    <p:sldId id="270" r:id="rId14"/>
    <p:sldId id="271" r:id="rId15"/>
    <p:sldId id="263" r:id="rId16"/>
    <p:sldId id="268" r:id="rId17"/>
    <p:sldId id="264" r:id="rId18"/>
    <p:sldId id="269" r:id="rId19"/>
    <p:sldId id="276" r:id="rId20"/>
    <p:sldId id="277" r:id="rId21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23D0DA-BC12-486B-BF71-11E879F42B38}" v="295" dt="2025-06-09T21:33:10.435"/>
    <p1510:client id="{56067E8A-2B26-E86A-F3FA-CCBBB3B990EB}" v="142" dt="2025-06-09T18:23:53.185"/>
    <p1510:client id="{70ECDB4D-B21B-63D9-FA1B-AF164D165246}" v="79" dt="2025-06-10T11:29:40.594"/>
    <p1510:client id="{9C12FB9E-0E09-48F9-D217-5BA266A185D5}" v="33" dt="2025-06-10T11:12:30.894"/>
    <p1510:client id="{A1D93A34-BC18-0903-88F2-60068C6A73C9}" v="30" dt="2025-06-11T07:03:49.278"/>
    <p1510:client id="{A89A4401-1395-8CAE-BAAD-DF20B2BAC478}" v="18" dt="2025-06-10T16:15:07.076"/>
    <p1510:client id="{AD212EC7-1E5B-0135-4CE5-C170B72A76AB}" v="452" dt="2025-06-09T18:50:02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41066C-AC27-4746-A864-661B73E847F4}" type="datetimeFigureOut">
              <a:rPr lang="en-BE" smtClean="0"/>
              <a:t>06/11/2025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A7F01-4F5A-4831-8A2A-D5210703B51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81743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ugent.be/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E7AAA61-02E7-BAC9-EA05-6C3E6931C9AE}"/>
              </a:ext>
            </a:extLst>
          </p:cNvPr>
          <p:cNvSpPr/>
          <p:nvPr/>
        </p:nvSpPr>
        <p:spPr>
          <a:xfrm>
            <a:off x="334962" y="904834"/>
            <a:ext cx="11857038" cy="4727381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6D2043D-6EB9-0864-5E05-87A3F67AF2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08775" y="904834"/>
            <a:ext cx="5483225" cy="472761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b="0" i="1" baseline="0">
                <a:solidFill>
                  <a:schemeClr val="bg1"/>
                </a:solidFill>
              </a:defRPr>
            </a:lvl1pPr>
          </a:lstStyle>
          <a:p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add</a:t>
            </a:r>
            <a:r>
              <a:rPr lang="nl-BE"/>
              <a:t> picture</a:t>
            </a:r>
            <a:endParaRPr lang="en-BE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BA10A23-5DA3-9A1E-8E84-29F7F107D9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8206" y="1076122"/>
            <a:ext cx="5800725" cy="2533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 cap="all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add</a:t>
            </a:r>
            <a:r>
              <a:rPr lang="nl-BE"/>
              <a:t> </a:t>
            </a:r>
            <a:r>
              <a:rPr lang="nl-BE" err="1"/>
              <a:t>department</a:t>
            </a:r>
            <a:endParaRPr lang="en-GB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2DBA8D7-7A6E-681C-61D6-629E37255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206" y="1336460"/>
            <a:ext cx="5800725" cy="2533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 cap="all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add</a:t>
            </a:r>
            <a:r>
              <a:rPr lang="nl-BE"/>
              <a:t> research </a:t>
            </a:r>
            <a:r>
              <a:rPr lang="nl-BE" err="1"/>
              <a:t>group</a:t>
            </a:r>
            <a:endParaRPr lang="en-GB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99674CE-CC5A-6E5E-B20B-6D1ECE8758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5820" y="4947903"/>
            <a:ext cx="5868987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noProof="0"/>
              <a:t>Click to add subtitle / presenter / date [dd-mm-</a:t>
            </a:r>
            <a:r>
              <a:rPr lang="en-GB" noProof="0" err="1"/>
              <a:t>yyyy</a:t>
            </a:r>
            <a:r>
              <a:rPr lang="en-GB" noProof="0"/>
              <a:t>]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3C3B384C-5F63-0027-60E1-3323498634A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93515" y="5845558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2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7C46CF3-3266-0AE4-E490-2AB34D0D8D7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86475" y="5845558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3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3B1542A1-6AC8-E18C-CF5F-D1E4308D374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79435" y="5845558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4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5CD99CC8-1C66-FA5B-C68B-CA8D27A118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4196" y="2126254"/>
            <a:ext cx="5632959" cy="260127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ts val="6800"/>
              </a:lnSpc>
              <a:spcBef>
                <a:spcPts val="0"/>
              </a:spcBef>
              <a:buNone/>
              <a:defRPr sz="6500" b="1" i="0" cap="none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pic>
        <p:nvPicPr>
          <p:cNvPr id="8" name="Afbeelding 17">
            <a:extLst>
              <a:ext uri="{FF2B5EF4-FFF2-40B4-BE49-F238E27FC236}">
                <a16:creationId xmlns:a16="http://schemas.microsoft.com/office/drawing/2014/main" id="{377D64E3-D8A5-11E3-0E0C-76355B8A07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506" y="-39239"/>
            <a:ext cx="3126706" cy="1042236"/>
          </a:xfrm>
          <a:prstGeom prst="rect">
            <a:avLst/>
          </a:prstGeom>
        </p:spPr>
      </p:pic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0581EEBD-3A2E-3F65-A7CB-B3DD05283A4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00555" y="5852592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1</a:t>
            </a:r>
          </a:p>
        </p:txBody>
      </p:sp>
    </p:spTree>
    <p:extLst>
      <p:ext uri="{BB962C8B-B14F-4D97-AF65-F5344CB8AC3E}">
        <p14:creationId xmlns:p14="http://schemas.microsoft.com/office/powerpoint/2010/main" val="4148230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226">
          <p15:clr>
            <a:srgbClr val="FBAE40"/>
          </p15:clr>
        </p15:guide>
        <p15:guide id="4" pos="415">
          <p15:clr>
            <a:srgbClr val="FBAE40"/>
          </p15:clr>
        </p15:guide>
        <p15:guide id="5" orient="horz" pos="256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E7AAA61-02E7-BAC9-EA05-6C3E6931C9AE}"/>
              </a:ext>
            </a:extLst>
          </p:cNvPr>
          <p:cNvSpPr/>
          <p:nvPr/>
        </p:nvSpPr>
        <p:spPr>
          <a:xfrm>
            <a:off x="334962" y="-7643"/>
            <a:ext cx="11857038" cy="5632215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6D2043D-6EB9-0864-5E05-87A3F67AF2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08775" y="0"/>
            <a:ext cx="5483225" cy="5632450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b="0" i="1" baseline="0">
                <a:solidFill>
                  <a:schemeClr val="bg1"/>
                </a:solidFill>
              </a:defRPr>
            </a:lvl1pPr>
          </a:lstStyle>
          <a:p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add</a:t>
            </a:r>
            <a:r>
              <a:rPr lang="nl-BE"/>
              <a:t> picture</a:t>
            </a:r>
            <a:endParaRPr lang="en-BE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696E979-5DD6-A9D0-6C24-A5369197D4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4196" y="1904921"/>
            <a:ext cx="5632959" cy="3597780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ts val="6800"/>
              </a:lnSpc>
              <a:spcBef>
                <a:spcPts val="0"/>
              </a:spcBef>
              <a:buNone/>
              <a:defRPr sz="6500" b="1" i="0" cap="none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4018693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226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354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10893106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674F96B-ACC8-7B86-3350-B2CBDF3510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925" y="1150143"/>
            <a:ext cx="10893106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rgbClr val="8BBEE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sz="2800" b="0" i="0" baseline="0">
                <a:latin typeface="UGent Panno Text SemiLight" panose="02000406040000040003" pitchFamily="2" charset="0"/>
              </a:rPr>
              <a:t>Click to add subtitle</a:t>
            </a:r>
            <a:endParaRPr lang="en-BE" sz="2800" b="0" i="0" baseline="0">
              <a:latin typeface="UGent Panno Text SemiLight" panose="02000406040000040003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986D91-BB3B-0E85-A2F8-E3C6F52F5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250995"/>
            <a:ext cx="10893422" cy="893656"/>
          </a:xfrm>
          <a:prstGeom prst="rect">
            <a:avLst/>
          </a:prstGeom>
        </p:spPr>
        <p:txBody>
          <a:bodyPr tIns="0" bIns="0"/>
          <a:lstStyle>
            <a:lvl1pPr>
              <a:defRPr sz="4400" b="1" i="0" cap="none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/>
              <a:t>Click to add title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04018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5D27489-CE6E-43ED-8317-F7C9B416AAF4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107575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CA775B9-7A5D-D3BA-EB26-3B1C77C0C3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925" y="1150143"/>
            <a:ext cx="10893106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rgbClr val="8BBEE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sz="2800" b="0" i="0" baseline="0">
                <a:latin typeface="UGent Panno Text SemiLight" panose="02000406040000040003" pitchFamily="2" charset="0"/>
              </a:rPr>
              <a:t>Click to add subtitle</a:t>
            </a:r>
            <a:endParaRPr lang="en-BE" sz="2800" b="0" i="0" baseline="0">
              <a:latin typeface="UGent Panno Text SemiLight" panose="02000406040000040003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C2FBC6-E436-D1CA-B831-5045F9D578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250995"/>
            <a:ext cx="10893422" cy="893656"/>
          </a:xfrm>
          <a:prstGeom prst="rect">
            <a:avLst/>
          </a:prstGeom>
        </p:spPr>
        <p:txBody>
          <a:bodyPr tIns="0" bIns="0"/>
          <a:lstStyle>
            <a:lvl1pPr>
              <a:defRPr sz="4400" b="1" i="0" cap="none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/>
              <a:t>Click to add title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70096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19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B15F7A-2857-1665-65A2-912D2635A3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429000"/>
            <a:ext cx="5761038" cy="3132137"/>
          </a:xfrm>
          <a:prstGeom prst="rect">
            <a:avLst/>
          </a:prstGeom>
          <a:solidFill>
            <a:srgbClr val="8BBEE8"/>
          </a:solidFill>
        </p:spPr>
        <p:txBody>
          <a:bodyPr lIns="216000" tIns="216000"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0FE049FB-53CE-0D06-5EAF-F7D996BBD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925" y="1150143"/>
            <a:ext cx="10893106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rgbClr val="8BBEE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sz="2800" b="0" i="0" baseline="0">
                <a:latin typeface="UGent Panno Text SemiLight" panose="02000406040000040003" pitchFamily="2" charset="0"/>
              </a:rPr>
              <a:t>Click to add subtitle</a:t>
            </a:r>
            <a:endParaRPr lang="en-BE" sz="2800" b="0" i="0" baseline="0">
              <a:latin typeface="UGent Panno Text SemiLight" panose="02000406040000040003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3EDE80-0BDF-4564-E27A-18B047ECA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250995"/>
            <a:ext cx="10893422" cy="893656"/>
          </a:xfrm>
          <a:prstGeom prst="rect">
            <a:avLst/>
          </a:prstGeom>
        </p:spPr>
        <p:txBody>
          <a:bodyPr tIns="0" bIns="0"/>
          <a:lstStyle>
            <a:lvl1pPr>
              <a:defRPr sz="4400" b="1" i="0" cap="none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/>
              <a:t>Click to add title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37009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3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A61780A-83DC-D87E-7E9D-4AAE6AB2CE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5761038" cy="6561138"/>
          </a:xfrm>
          <a:prstGeom prst="rect">
            <a:avLst/>
          </a:prstGeom>
          <a:solidFill>
            <a:schemeClr val="bg1">
              <a:alpha val="10106"/>
            </a:schemeClr>
          </a:solidFill>
        </p:spPr>
        <p:txBody>
          <a:bodyPr/>
          <a:lstStyle>
            <a:lvl1pPr marL="0" indent="0">
              <a:buNone/>
              <a:defRPr b="0" i="1" baseline="0"/>
            </a:lvl1pPr>
          </a:lstStyle>
          <a:p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add</a:t>
            </a:r>
            <a:r>
              <a:rPr lang="nl-BE"/>
              <a:t> picture</a:t>
            </a:r>
            <a:endParaRPr lang="en-BE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38AEE2A-8AAD-71AA-7952-D0105F9D9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357529"/>
            <a:ext cx="5340031" cy="153223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4880"/>
              </a:lnSpc>
              <a:defRPr sz="4400" b="1" i="0" cap="none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/>
              <a:t>Click to add title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50611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33">
          <p15:clr>
            <a:srgbClr val="FBAE40"/>
          </p15:clr>
        </p15:guide>
        <p15:guide id="5" orient="horz" pos="52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60491DC-DD02-8C0D-3C43-4759716D260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34963" y="0"/>
            <a:ext cx="11857037" cy="562451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b="0" i="1" baseline="0"/>
            </a:lvl1pPr>
          </a:lstStyle>
          <a:p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add</a:t>
            </a:r>
            <a:r>
              <a:rPr lang="nl-BE"/>
              <a:t> picture</a:t>
            </a:r>
            <a:endParaRPr lang="en-BE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9928919-EA26-6E09-2403-4922D79229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960688"/>
            <a:ext cx="5761038" cy="3600450"/>
          </a:xfrm>
          <a:prstGeom prst="rect">
            <a:avLst/>
          </a:prstGeom>
          <a:solidFill>
            <a:srgbClr val="8BBEE8"/>
          </a:solidFill>
        </p:spPr>
        <p:txBody>
          <a:bodyPr lIns="288000" tIns="144000"/>
          <a:lstStyle>
            <a:lvl1pPr marL="0" indent="0">
              <a:lnSpc>
                <a:spcPct val="100000"/>
              </a:lnSpc>
              <a:buNone/>
              <a:defRPr sz="20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add text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91359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33">
          <p15:clr>
            <a:srgbClr val="FBAE40"/>
          </p15:clr>
        </p15:guide>
        <p15:guide id="5" orient="horz" pos="3543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1865">
          <p15:clr>
            <a:srgbClr val="FBAE40"/>
          </p15:clr>
        </p15:guide>
        <p15:guide id="8" pos="402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D8A7D59B-53F4-BEBC-DECB-70532BA2E89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34964" y="0"/>
            <a:ext cx="8426236" cy="562451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b="0" i="1" baseline="0"/>
            </a:lvl1pPr>
          </a:lstStyle>
          <a:p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add</a:t>
            </a:r>
            <a:r>
              <a:rPr lang="nl-BE"/>
              <a:t> picture</a:t>
            </a:r>
            <a:endParaRPr lang="en-BE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FE686B0-9020-8A92-0329-A8A99BFE9A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429000"/>
            <a:ext cx="5761038" cy="3132137"/>
          </a:xfrm>
          <a:prstGeom prst="rect">
            <a:avLst/>
          </a:prstGeom>
          <a:solidFill>
            <a:schemeClr val="bg1"/>
          </a:solidFill>
        </p:spPr>
        <p:txBody>
          <a:bodyPr lIns="216000" tIns="216000"/>
          <a:lstStyle>
            <a:lvl1pPr marL="0" indent="0">
              <a:buNone/>
              <a:defRPr sz="2400" b="1" i="0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394113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551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24342D-546E-7B37-2676-BAAD35536F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F0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CB6634-3E7A-5251-E883-2E5086975C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3815" y="5632331"/>
            <a:ext cx="1531620" cy="1225554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FC62665B-E898-7EE2-2118-04E6DA6F3F16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1803400" y="647012"/>
            <a:ext cx="8582025" cy="48228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1" baseline="0"/>
            </a:lvl1pPr>
          </a:lstStyle>
          <a:p>
            <a:r>
              <a:rPr lang="en-GB"/>
              <a:t>Click to add video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951F26E-CB45-E98F-4538-724A7F98AE2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5503" y="2526636"/>
            <a:ext cx="1520993" cy="1135012"/>
          </a:xfrm>
          <a:prstGeom prst="rect">
            <a:avLst/>
          </a:prstGeom>
          <a:effectLst>
            <a:outerShdw blurRad="50800" dist="79774" dir="2700000" sx="95000" sy="95000" algn="tl" rotWithShape="0">
              <a:prstClr val="black">
                <a:alpha val="42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8398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551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hlinkClick r:id="rId2"/>
            <a:extLst>
              <a:ext uri="{FF2B5EF4-FFF2-40B4-BE49-F238E27FC236}">
                <a16:creationId xmlns:a16="http://schemas.microsoft.com/office/drawing/2014/main" id="{362F20F1-ED28-85C0-71DB-505E68838417}"/>
              </a:ext>
            </a:extLst>
          </p:cNvPr>
          <p:cNvSpPr/>
          <p:nvPr/>
        </p:nvSpPr>
        <p:spPr>
          <a:xfrm>
            <a:off x="334962" y="904834"/>
            <a:ext cx="11857038" cy="4727381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68D4D5-0FA9-E53F-F53B-B98FE92BBC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9307" y="1288131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add</a:t>
            </a:r>
            <a:r>
              <a:rPr lang="nl-BE"/>
              <a:t> name presenter</a:t>
            </a:r>
            <a:endParaRPr lang="en-GB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C9F327B-FF93-9563-C292-045730830A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9306" y="1744365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add</a:t>
            </a:r>
            <a:r>
              <a:rPr lang="nl-BE"/>
              <a:t> </a:t>
            </a:r>
            <a:r>
              <a:rPr lang="nl-BE" err="1"/>
              <a:t>function</a:t>
            </a:r>
            <a:r>
              <a:rPr lang="nl-BE"/>
              <a:t> presenter</a:t>
            </a:r>
            <a:endParaRPr lang="en-GB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695713-4E1B-201D-D5EB-461CBF7EB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9306" y="2514594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cap="all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add</a:t>
            </a:r>
            <a:r>
              <a:rPr lang="nl-BE"/>
              <a:t> </a:t>
            </a:r>
            <a:r>
              <a:rPr lang="nl-BE" err="1"/>
              <a:t>department</a:t>
            </a:r>
            <a:r>
              <a:rPr lang="nl-BE"/>
              <a:t> or research </a:t>
            </a:r>
            <a:r>
              <a:rPr lang="nl-BE" err="1"/>
              <a:t>group</a:t>
            </a:r>
            <a:endParaRPr lang="en-GB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E657102-1BE8-0D9D-E03D-6B6E915D87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09306" y="3448928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add</a:t>
            </a:r>
            <a:r>
              <a:rPr lang="nl-BE"/>
              <a:t> email </a:t>
            </a:r>
            <a:r>
              <a:rPr lang="nl-BE" err="1"/>
              <a:t>address</a:t>
            </a:r>
            <a:endParaRPr lang="en-GB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6142B73-FD37-BBD7-B358-4DD6E2FC11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09305" y="3906540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add</a:t>
            </a:r>
            <a:r>
              <a:rPr lang="nl-BE"/>
              <a:t> </a:t>
            </a:r>
            <a:r>
              <a:rPr lang="nl-BE" err="1"/>
              <a:t>phone</a:t>
            </a:r>
            <a:r>
              <a:rPr lang="nl-BE"/>
              <a:t> </a:t>
            </a:r>
            <a:r>
              <a:rPr lang="nl-BE" err="1"/>
              <a:t>number</a:t>
            </a:r>
            <a:endParaRPr lang="en-GB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341BF6EC-7ACA-8D9F-5C30-803E5DD79E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09305" y="4379321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/>
              <a:t>Click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add</a:t>
            </a:r>
            <a:r>
              <a:rPr lang="nl-BE"/>
              <a:t> </a:t>
            </a:r>
            <a:r>
              <a:rPr lang="nl-BE" err="1"/>
              <a:t>cell</a:t>
            </a:r>
            <a:r>
              <a:rPr lang="nl-BE"/>
              <a:t> </a:t>
            </a:r>
            <a:r>
              <a:rPr lang="nl-BE" err="1"/>
              <a:t>phone</a:t>
            </a:r>
            <a:r>
              <a:rPr lang="nl-BE"/>
              <a:t> </a:t>
            </a:r>
            <a:r>
              <a:rPr lang="nl-BE" err="1"/>
              <a:t>number</a:t>
            </a:r>
            <a:endParaRPr lang="en-GB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87902B-45B8-AF60-EDBD-FCD5EFD0614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41671" y="2572340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88FF502E-8D06-7F3E-2B5A-7C3BB3F17DC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03448" y="2572340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EE6C3D79-39D2-1CC1-710A-71F4376473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41671" y="3006178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35C7FD63-C24F-9766-4D38-14E96DC1DED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03448" y="3006178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07A2FB37-D7D0-D120-A655-7C75B68BBD6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41671" y="3440016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03C7886B-E8EB-BF9C-5EAB-500C666EA06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903448" y="3440016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8188310-B4F5-84E8-1582-FA7CC5C711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41671" y="3873854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14">
            <a:extLst>
              <a:ext uri="{FF2B5EF4-FFF2-40B4-BE49-F238E27FC236}">
                <a16:creationId xmlns:a16="http://schemas.microsoft.com/office/drawing/2014/main" id="{D6AAACB1-04C7-44D6-2E19-7196D2FAE16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903448" y="3873854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66746C4A-1A2B-73F9-2735-FCADDF6790B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41671" y="4307692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14">
            <a:extLst>
              <a:ext uri="{FF2B5EF4-FFF2-40B4-BE49-F238E27FC236}">
                <a16:creationId xmlns:a16="http://schemas.microsoft.com/office/drawing/2014/main" id="{680C7AB2-4763-95A8-4FA3-AE9A97C677E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903448" y="4307692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FDB81306-A097-1971-ACA8-4EBE7A81B91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03448" y="4971369"/>
            <a:ext cx="2652130" cy="3600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Afbeelding 17">
            <a:extLst>
              <a:ext uri="{FF2B5EF4-FFF2-40B4-BE49-F238E27FC236}">
                <a16:creationId xmlns:a16="http://schemas.microsoft.com/office/drawing/2014/main" id="{1268C458-54E6-556D-8781-D86A10F2D6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3506" y="-39239"/>
            <a:ext cx="3126706" cy="104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070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hey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0006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Corpora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Logo Larg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682" y="1599810"/>
            <a:ext cx="3840722" cy="293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68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064DE9-30A2-2B74-537F-01BD484D90F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3815" y="5632331"/>
            <a:ext cx="1531620" cy="1225554"/>
          </a:xfrm>
          <a:prstGeom prst="rect">
            <a:avLst/>
          </a:prstGeom>
        </p:spPr>
      </p:pic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54843F8-C4AC-387E-D09E-8057C939F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56085" y="6356350"/>
            <a:ext cx="4864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de-DE"/>
              <a:t>hey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057CCB8-6D9D-26CA-514D-DC21CF29C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69622" y="6356350"/>
            <a:ext cx="13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UGent Panno Text" panose="02000506040000040003" pitchFamily="2" charset="0"/>
              </a:defRPr>
            </a:lvl1pPr>
          </a:lstStyle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9ACE937C-4427-1E12-DDEC-0A500F85C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69002" y="6356350"/>
            <a:ext cx="2938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UGent Panno Text" panose="02000506040000040003" pitchFamily="2" charset="0"/>
              </a:defRPr>
            </a:lvl1pPr>
          </a:lstStyle>
          <a:p>
            <a:endParaRPr lang="de-DE"/>
          </a:p>
        </p:txBody>
      </p:sp>
      <p:sp>
        <p:nvSpPr>
          <p:cNvPr id="24" name="Title Placeholder 16">
            <a:extLst>
              <a:ext uri="{FF2B5EF4-FFF2-40B4-BE49-F238E27FC236}">
                <a16:creationId xmlns:a16="http://schemas.microsoft.com/office/drawing/2014/main" id="{7BD70135-BFF5-C1D3-7EAF-CD09E5AA0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609" y="365126"/>
            <a:ext cx="10811191" cy="779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BE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9072CE6-E1B8-1EA7-B3C8-10C89DDC5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609" y="1825625"/>
            <a:ext cx="108111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343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kern="1200" cap="none" baseline="0">
          <a:solidFill>
            <a:srgbClr val="1E64C8"/>
          </a:solidFill>
          <a:latin typeface="UGent Panno Text Medium" panose="02000506040000040003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507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Automated Tree Mapping and Measurement </a:t>
            </a:r>
            <a:endParaRPr lang="de-D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/>
              <a:t>Group 6</a:t>
            </a:r>
          </a:p>
          <a:p>
            <a:r>
              <a:rPr lang="de-DE" err="1"/>
              <a:t>Biesemans</a:t>
            </a:r>
            <a:r>
              <a:rPr lang="de-DE"/>
              <a:t> Hannes, </a:t>
            </a:r>
            <a:r>
              <a:rPr lang="de-DE" err="1"/>
              <a:t>Ceule</a:t>
            </a:r>
            <a:r>
              <a:rPr lang="de-DE"/>
              <a:t> Alexander, </a:t>
            </a:r>
            <a:r>
              <a:rPr lang="de-DE" err="1"/>
              <a:t>Hendrickx</a:t>
            </a:r>
            <a:r>
              <a:rPr lang="de-DE"/>
              <a:t> Quinten, Ünal Kâni, </a:t>
            </a:r>
            <a:r>
              <a:rPr lang="de-DE" err="1"/>
              <a:t>Wannijn</a:t>
            </a:r>
            <a:r>
              <a:rPr lang="de-DE"/>
              <a:t> Anton</a:t>
            </a:r>
          </a:p>
        </p:txBody>
      </p:sp>
    </p:spTree>
    <p:extLst>
      <p:ext uri="{BB962C8B-B14F-4D97-AF65-F5344CB8AC3E}">
        <p14:creationId xmlns:p14="http://schemas.microsoft.com/office/powerpoint/2010/main" val="3351439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FC0210-01E4-415E-63B3-8F895E99A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66725" lvl="1" indent="-457200"/>
            <a:r>
              <a:rPr lang="en-BE">
                <a:latin typeface="UGent Panno Text"/>
              </a:rPr>
              <a:t>Introduction</a:t>
            </a:r>
          </a:p>
          <a:p>
            <a:pPr marL="466725" lvl="1" indent="-457200"/>
            <a:r>
              <a:rPr lang="en-BE">
                <a:latin typeface="UGent Panno Text"/>
              </a:rPr>
              <a:t>Overview – System Workflow</a:t>
            </a:r>
            <a:endParaRPr lang="en-BE"/>
          </a:p>
          <a:p>
            <a:pPr marL="466725" lvl="1" indent="-457200"/>
            <a:r>
              <a:rPr lang="en-BE">
                <a:latin typeface="UGent Panno Text"/>
              </a:rPr>
              <a:t>Camera Calibration &amp; Tree Detection</a:t>
            </a:r>
            <a:endParaRPr lang="en-BE"/>
          </a:p>
          <a:p>
            <a:pPr marL="466725" lvl="1" indent="-457200"/>
            <a:r>
              <a:rPr lang="en-BE">
                <a:latin typeface="UGent Panno Text"/>
              </a:rPr>
              <a:t>Tree Tracking &amp; ID Assignment</a:t>
            </a:r>
            <a:endParaRPr lang="en-BE"/>
          </a:p>
          <a:p>
            <a:pPr marL="466725" lvl="1" indent="-457200"/>
            <a:r>
              <a:rPr lang="en-BE">
                <a:latin typeface="UGent Panno Text"/>
              </a:rPr>
              <a:t>Path Reconstruction</a:t>
            </a:r>
            <a:endParaRPr lang="en-BE"/>
          </a:p>
          <a:p>
            <a:pPr marL="466725" lvl="1" indent="-457200"/>
            <a:r>
              <a:rPr lang="en-BE">
                <a:latin typeface="UGent Panno Text"/>
              </a:rPr>
              <a:t>3D Localization &amp; DBH Estimation</a:t>
            </a:r>
            <a:endParaRPr lang="en-BE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BE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BE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BE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9F16E-E39E-9BD4-D6D6-C4784F60BC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C491B8-D251-37F6-B6D5-198169610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UGent Panno Text"/>
              </a:rPr>
              <a:t>Table of Contents</a:t>
            </a:r>
            <a:endParaRPr lang="en-BE"/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B00EEA9A-0DA8-45CC-DCDF-09926EFD64E6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b="1" err="1">
                <a:latin typeface="UGent Panno Text"/>
              </a:rPr>
              <a:t>Biesemans</a:t>
            </a:r>
            <a:r>
              <a:rPr lang="de-DE" sz="2400" b="1">
                <a:latin typeface="UGent Panno Text"/>
              </a:rPr>
              <a:t> Hannes</a:t>
            </a:r>
            <a:r>
              <a:rPr lang="de-DE" sz="2400">
                <a:latin typeface="UGent Panno Text"/>
              </a:rPr>
              <a:t> - </a:t>
            </a:r>
            <a:r>
              <a:rPr lang="de-DE" sz="2400" err="1">
                <a:latin typeface="UGent Panno Text"/>
              </a:rPr>
              <a:t>Ceule</a:t>
            </a:r>
            <a:r>
              <a:rPr lang="de-DE" sz="2400">
                <a:latin typeface="UGent Panno Text"/>
              </a:rPr>
              <a:t> Alexander - </a:t>
            </a:r>
            <a:r>
              <a:rPr lang="de-DE" sz="2400" err="1">
                <a:latin typeface="UGent Panno Text"/>
              </a:rPr>
              <a:t>Hendrickx</a:t>
            </a:r>
            <a:r>
              <a:rPr lang="de-DE" sz="2400">
                <a:latin typeface="UGent Panno Text"/>
              </a:rPr>
              <a:t> Quinten - Ünal Kâni - </a:t>
            </a:r>
            <a:r>
              <a:rPr lang="de-DE" sz="2400" err="1">
                <a:latin typeface="UGent Panno Text"/>
              </a:rPr>
              <a:t>Wannijn</a:t>
            </a:r>
            <a:r>
              <a:rPr lang="de-DE" sz="2400">
                <a:latin typeface="UGent Panno Text"/>
              </a:rPr>
              <a:t> Anton</a:t>
            </a:r>
          </a:p>
        </p:txBody>
      </p:sp>
    </p:spTree>
    <p:extLst>
      <p:ext uri="{BB962C8B-B14F-4D97-AF65-F5344CB8AC3E}">
        <p14:creationId xmlns:p14="http://schemas.microsoft.com/office/powerpoint/2010/main" val="3877316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BA489D8-D5BA-31DA-A908-50ACF46D8C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831D3-0632-879F-58E2-D39615E514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3009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454509-D784-F17C-49DB-FE1307627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66725" lvl="1" indent="-457200"/>
            <a:r>
              <a:rPr lang="en-BE">
                <a:latin typeface="UGent Panno Text"/>
              </a:rPr>
              <a:t>The Urgency of Tree Monitoring</a:t>
            </a:r>
            <a:endParaRPr lang="en-BE"/>
          </a:p>
          <a:p>
            <a:pPr marL="466725" lvl="1" indent="-457200"/>
            <a:r>
              <a:rPr lang="en-BE">
                <a:latin typeface="UGent Panno Text"/>
              </a:rPr>
              <a:t>Limits of Traditional Methods</a:t>
            </a:r>
            <a:endParaRPr lang="en-BE"/>
          </a:p>
          <a:p>
            <a:pPr marL="466725" lvl="1" indent="-457200"/>
            <a:r>
              <a:rPr lang="en-BE">
                <a:latin typeface="UGent Panno Text"/>
              </a:rPr>
              <a:t>Vison-Based Smart Mapping</a:t>
            </a:r>
          </a:p>
          <a:p>
            <a:pPr marL="466725" lvl="1" indent="-457200"/>
            <a:r>
              <a:rPr lang="en-BE">
                <a:latin typeface="UGent Panno Text"/>
              </a:rPr>
              <a:t>Towards Scalable Eco-Intelligence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7F60C-335F-63E0-8B82-B345D676DF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28F669-6466-5054-4E5A-CFE681940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BE"/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F61C6DDA-0CA9-0BEF-4AC2-971BEBC9DB58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b="1" err="1">
                <a:latin typeface="UGent Panno Text"/>
              </a:rPr>
              <a:t>Biesemans</a:t>
            </a:r>
            <a:r>
              <a:rPr lang="de-DE" sz="2400" b="1">
                <a:latin typeface="UGent Panno Text"/>
              </a:rPr>
              <a:t> Hannes</a:t>
            </a:r>
            <a:r>
              <a:rPr lang="de-DE" sz="2400">
                <a:latin typeface="UGent Panno Text"/>
              </a:rPr>
              <a:t> - </a:t>
            </a:r>
            <a:r>
              <a:rPr lang="de-DE" sz="2400" err="1">
                <a:latin typeface="UGent Panno Text"/>
              </a:rPr>
              <a:t>Ceule</a:t>
            </a:r>
            <a:r>
              <a:rPr lang="de-DE" sz="2400">
                <a:latin typeface="UGent Panno Text"/>
              </a:rPr>
              <a:t> Alexander - </a:t>
            </a:r>
            <a:r>
              <a:rPr lang="de-DE" sz="2400" err="1">
                <a:latin typeface="UGent Panno Text"/>
              </a:rPr>
              <a:t>Hendrickx</a:t>
            </a:r>
            <a:r>
              <a:rPr lang="de-DE" sz="2400">
                <a:latin typeface="UGent Panno Text"/>
              </a:rPr>
              <a:t> Quinten - Ünal Kâni - </a:t>
            </a:r>
            <a:r>
              <a:rPr lang="de-DE" sz="2400" err="1">
                <a:latin typeface="UGent Panno Text"/>
              </a:rPr>
              <a:t>Wannijn</a:t>
            </a:r>
            <a:r>
              <a:rPr lang="de-DE" sz="2400">
                <a:latin typeface="UGent Panno Text"/>
              </a:rPr>
              <a:t> Anton</a:t>
            </a:r>
          </a:p>
        </p:txBody>
      </p:sp>
      <p:pic>
        <p:nvPicPr>
          <p:cNvPr id="6" name="Afbeelding 5" descr="A Guide to Drone Mapping: Use Cases, Software, and Key Terminology [Updated  for 2024] - Drone Pilot Ground School">
            <a:extLst>
              <a:ext uri="{FF2B5EF4-FFF2-40B4-BE49-F238E27FC236}">
                <a16:creationId xmlns:a16="http://schemas.microsoft.com/office/drawing/2014/main" id="{CF1B014A-D956-9B6C-03A0-9716B9062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184" y="2165372"/>
            <a:ext cx="5712240" cy="3235878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7C2291F1-0B5D-596F-C306-529A7E28F0F5}"/>
              </a:ext>
            </a:extLst>
          </p:cNvPr>
          <p:cNvSpPr txBox="1"/>
          <p:nvPr/>
        </p:nvSpPr>
        <p:spPr>
          <a:xfrm>
            <a:off x="6929719" y="5405283"/>
            <a:ext cx="451310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1200" err="1"/>
              <a:t>Mapping</a:t>
            </a:r>
            <a:r>
              <a:rPr lang="nl-NL" sz="1200"/>
              <a:t> </a:t>
            </a:r>
            <a:r>
              <a:rPr lang="nl-NL" sz="1200" err="1"/>
              <a:t>farming</a:t>
            </a:r>
            <a:r>
              <a:rPr lang="nl-NL" sz="1200"/>
              <a:t> fields </a:t>
            </a:r>
            <a:r>
              <a:rPr lang="nl-NL" sz="1200" err="1"/>
              <a:t>using</a:t>
            </a:r>
            <a:r>
              <a:rPr lang="nl-NL" sz="1200"/>
              <a:t> drones </a:t>
            </a:r>
            <a:r>
              <a:rPr lang="nl-NL" sz="1200">
                <a:ea typeface="+mn-lt"/>
                <a:cs typeface="+mn-lt"/>
              </a:rPr>
              <a:t>(</a:t>
            </a:r>
            <a:r>
              <a:rPr lang="nl-NL" sz="1200" err="1">
                <a:ea typeface="+mn-lt"/>
                <a:cs typeface="+mn-lt"/>
              </a:rPr>
              <a:t>Dukowitz</a:t>
            </a:r>
            <a:r>
              <a:rPr lang="nl-NL" sz="1200">
                <a:ea typeface="+mn-lt"/>
                <a:cs typeface="+mn-lt"/>
              </a:rPr>
              <a:t>, 2024)</a:t>
            </a:r>
            <a:endParaRPr lang="nl-NL" sz="1200"/>
          </a:p>
        </p:txBody>
      </p:sp>
    </p:spTree>
    <p:extLst>
      <p:ext uri="{BB962C8B-B14F-4D97-AF65-F5344CB8AC3E}">
        <p14:creationId xmlns:p14="http://schemas.microsoft.com/office/powerpoint/2010/main" val="1729790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AF44A-76E7-6586-F47A-4EB0773CA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91CD0-975A-5379-DC88-599404A9EE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196" y="125506"/>
            <a:ext cx="11413686" cy="5377195"/>
          </a:xfrm>
        </p:spPr>
        <p:txBody>
          <a:bodyPr/>
          <a:lstStyle/>
          <a:p>
            <a:r>
              <a:rPr lang="en-US"/>
              <a:t>Overview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28619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246A9-8706-E535-5F8D-1ACBBF548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AB64C8-1ABF-F6D7-D427-8666CFF62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6725" lvl="1" indent="-457200"/>
            <a:r>
              <a:rPr lang="en-US"/>
              <a:t>Preprocessing</a:t>
            </a:r>
          </a:p>
          <a:p>
            <a:pPr marL="1258888" lvl="2" indent="-457200"/>
            <a:r>
              <a:rPr lang="en-US"/>
              <a:t>Camera Calibration &amp; Tree Detection</a:t>
            </a:r>
          </a:p>
          <a:p>
            <a:pPr marL="466725" lvl="1" indent="-457200"/>
            <a:r>
              <a:rPr lang="en-US"/>
              <a:t>2D Mapping &amp; 3D Localization</a:t>
            </a:r>
          </a:p>
          <a:p>
            <a:pPr marL="466725" lvl="1" indent="-457200"/>
            <a:r>
              <a:rPr lang="en-US"/>
              <a:t>DBH Estimation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C7AD8-74BF-6E6A-3FB3-5EEDAFD031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System Workflow</a:t>
            </a:r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5E47ED-DB8D-F390-3C89-890C4FE63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Overview</a:t>
            </a:r>
            <a:endParaRPr lang="en-BE"/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2BE2BB74-A1C6-1C3C-7F9B-3C5C464A38EC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err="1">
                <a:latin typeface="UGent Panno Text"/>
              </a:rPr>
              <a:t>Biesemans</a:t>
            </a:r>
            <a:r>
              <a:rPr lang="de-DE" sz="2400">
                <a:latin typeface="UGent Panno Text"/>
              </a:rPr>
              <a:t> Hannes - </a:t>
            </a:r>
            <a:r>
              <a:rPr lang="de-DE" sz="2400" err="1">
                <a:latin typeface="UGent Panno Text"/>
              </a:rPr>
              <a:t>Ceule</a:t>
            </a:r>
            <a:r>
              <a:rPr lang="de-DE" sz="2400">
                <a:latin typeface="UGent Panno Text"/>
              </a:rPr>
              <a:t> Alexander - </a:t>
            </a:r>
            <a:r>
              <a:rPr lang="de-DE" sz="2400" b="1" err="1">
                <a:latin typeface="UGent Panno Text"/>
              </a:rPr>
              <a:t>Hendrickx</a:t>
            </a:r>
            <a:r>
              <a:rPr lang="de-DE" sz="2400" b="1">
                <a:latin typeface="UGent Panno Text"/>
              </a:rPr>
              <a:t> Quinten</a:t>
            </a:r>
            <a:r>
              <a:rPr lang="de-DE" sz="2400">
                <a:latin typeface="UGent Panno Text"/>
              </a:rPr>
              <a:t> - Ünal Kâni - </a:t>
            </a:r>
            <a:r>
              <a:rPr lang="de-DE" sz="2400" err="1">
                <a:latin typeface="UGent Panno Text"/>
              </a:rPr>
              <a:t>Wannijn</a:t>
            </a:r>
            <a:r>
              <a:rPr lang="de-DE" sz="2400">
                <a:latin typeface="UGent Panno Text"/>
              </a:rPr>
              <a:t> Anton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768743-2D48-5FF7-C55B-B9124F8E9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895" y="1820289"/>
            <a:ext cx="4247820" cy="392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172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B6F19-10F9-2C85-D420-1514C141B1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196" y="125506"/>
            <a:ext cx="11413686" cy="5377195"/>
          </a:xfrm>
        </p:spPr>
        <p:txBody>
          <a:bodyPr/>
          <a:lstStyle/>
          <a:p>
            <a:r>
              <a:rPr lang="en-US"/>
              <a:t>Methodology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82720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7FDA4-2C5F-7EBC-C026-E64C63BCE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93284B-AE17-7412-00F0-801880A79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66725" lvl="1" indent="-457200"/>
            <a:r>
              <a:rPr lang="en-US" dirty="0">
                <a:latin typeface="UGent Panno Text"/>
              </a:rPr>
              <a:t>Camera’s internal characteristics</a:t>
            </a:r>
          </a:p>
          <a:p>
            <a:pPr marL="466725" lvl="1" indent="-457200"/>
            <a:r>
              <a:rPr lang="en-US" dirty="0">
                <a:latin typeface="UGent Panno Text"/>
              </a:rPr>
              <a:t>checkerboard pattern </a:t>
            </a:r>
          </a:p>
          <a:p>
            <a:pPr marL="466725" lvl="1" indent="-457200"/>
            <a:r>
              <a:rPr lang="en-US" dirty="0">
                <a:latin typeface="UGent Panno Text"/>
              </a:rPr>
              <a:t>Image and point </a:t>
            </a:r>
            <a:r>
              <a:rPr lang="en-US" dirty="0" err="1">
                <a:latin typeface="UGent Panno Text"/>
              </a:rPr>
              <a:t>undistortion</a:t>
            </a:r>
            <a:endParaRPr lang="en-US" err="1"/>
          </a:p>
          <a:p>
            <a:pPr marL="466725" lvl="1" indent="-457200"/>
            <a:endParaRPr lang="en-US"/>
          </a:p>
          <a:p>
            <a:pPr marL="466725" lvl="1" indent="-45720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F603B-BEF0-4771-DD56-69A08252FC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UGent Panno Text"/>
              </a:rPr>
              <a:t>Camera Calibration </a:t>
            </a:r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BA4AB4-8E1B-6A51-1DFD-CFB634A13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  <a:endParaRPr lang="en-BE"/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B5DBF1B7-4F48-1EA3-CA7F-49420ED09D41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err="1">
                <a:latin typeface="UGent Panno Text"/>
              </a:rPr>
              <a:t>Biesemans</a:t>
            </a:r>
            <a:r>
              <a:rPr lang="de-DE" sz="2400">
                <a:latin typeface="UGent Panno Text"/>
              </a:rPr>
              <a:t> Hannes - </a:t>
            </a:r>
            <a:r>
              <a:rPr lang="de-DE" sz="2400" b="1" err="1">
                <a:latin typeface="UGent Panno Text"/>
              </a:rPr>
              <a:t>Ceule</a:t>
            </a:r>
            <a:r>
              <a:rPr lang="de-DE" sz="2400" b="1">
                <a:latin typeface="UGent Panno Text"/>
              </a:rPr>
              <a:t> Alexander</a:t>
            </a:r>
            <a:r>
              <a:rPr lang="de-DE" sz="2400">
                <a:latin typeface="UGent Panno Text"/>
              </a:rPr>
              <a:t> - </a:t>
            </a:r>
            <a:r>
              <a:rPr lang="de-DE" sz="2400" err="1">
                <a:latin typeface="UGent Panno Text"/>
              </a:rPr>
              <a:t>Hendrickx</a:t>
            </a:r>
            <a:r>
              <a:rPr lang="de-DE" sz="2400">
                <a:latin typeface="UGent Panno Text"/>
              </a:rPr>
              <a:t> Quinten - Ünal </a:t>
            </a:r>
            <a:r>
              <a:rPr lang="de-DE" sz="2400" err="1">
                <a:latin typeface="UGent Panno Text"/>
              </a:rPr>
              <a:t>Kâni</a:t>
            </a:r>
            <a:r>
              <a:rPr lang="de-DE" sz="2400">
                <a:latin typeface="UGent Panno Text"/>
              </a:rPr>
              <a:t> - </a:t>
            </a:r>
            <a:r>
              <a:rPr lang="de-DE" sz="2400" err="1">
                <a:latin typeface="UGent Panno Text"/>
              </a:rPr>
              <a:t>Wannijn</a:t>
            </a:r>
            <a:r>
              <a:rPr lang="de-DE" sz="2400">
                <a:latin typeface="UGent Panno Text"/>
              </a:rPr>
              <a:t> Anton</a:t>
            </a:r>
          </a:p>
        </p:txBody>
      </p:sp>
      <p:pic>
        <p:nvPicPr>
          <p:cNvPr id="6" name="Picture 5" descr="Calibrate a Camera | Camera Component">
            <a:extLst>
              <a:ext uri="{FF2B5EF4-FFF2-40B4-BE49-F238E27FC236}">
                <a16:creationId xmlns:a16="http://schemas.microsoft.com/office/drawing/2014/main" id="{71802FD7-7AFA-B896-3FE6-93DF2B6AF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029" y="3316397"/>
            <a:ext cx="3799113" cy="2609175"/>
          </a:xfrm>
          <a:prstGeom prst="rect">
            <a:avLst/>
          </a:prstGeom>
        </p:spPr>
      </p:pic>
      <p:pic>
        <p:nvPicPr>
          <p:cNvPr id="7" name="Graphic 6" descr="Calibration Checkerboard Collection | Mark Hedley Jones">
            <a:extLst>
              <a:ext uri="{FF2B5EF4-FFF2-40B4-BE49-F238E27FC236}">
                <a16:creationId xmlns:a16="http://schemas.microsoft.com/office/drawing/2014/main" id="{0AA09DAB-94DF-173F-50C7-123EB49F75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7144" y="3053442"/>
            <a:ext cx="4180114" cy="311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064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52781-3CF6-EA23-9412-627FA18C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C79AA1-4A8A-E02E-347D-88741D7FA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6725" lvl="1" indent="-457200"/>
            <a:r>
              <a:rPr lang="en-US"/>
              <a:t>Dataset Curation and Annotation</a:t>
            </a:r>
          </a:p>
          <a:p>
            <a:pPr marL="466725" lvl="1" indent="-457200"/>
            <a:r>
              <a:rPr lang="en-US"/>
              <a:t>Data Augmentation</a:t>
            </a:r>
          </a:p>
          <a:p>
            <a:pPr marL="466725" lvl="1" indent="-457200"/>
            <a:r>
              <a:rPr lang="en-US"/>
              <a:t>Model Selection and Fine-Tuning</a:t>
            </a:r>
          </a:p>
          <a:p>
            <a:pPr marL="466725" lvl="1" indent="-457200"/>
            <a:r>
              <a:rPr lang="en-US"/>
              <a:t>Model Output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C16B1-C225-7AE0-F591-08F106B82D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UGent Panno Text"/>
              </a:rPr>
              <a:t>Tree Detection</a:t>
            </a:r>
            <a:endParaRPr lang="en-BE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A44925-8B1B-279A-7001-2EEB65B2E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  <a:endParaRPr lang="en-BE"/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19F54D47-FCEB-BC8D-26F1-703D235EB0B0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err="1">
                <a:latin typeface="UGent Panno Text"/>
              </a:rPr>
              <a:t>Biesemans</a:t>
            </a:r>
            <a:r>
              <a:rPr lang="de-DE" sz="2400">
                <a:latin typeface="UGent Panno Text"/>
              </a:rPr>
              <a:t> Hannes - </a:t>
            </a:r>
            <a:r>
              <a:rPr lang="de-DE" sz="2400" b="1" err="1">
                <a:latin typeface="UGent Panno Text"/>
              </a:rPr>
              <a:t>Ceule</a:t>
            </a:r>
            <a:r>
              <a:rPr lang="de-DE" sz="2400" b="1">
                <a:latin typeface="UGent Panno Text"/>
              </a:rPr>
              <a:t> Alexander</a:t>
            </a:r>
            <a:r>
              <a:rPr lang="de-DE" sz="2400">
                <a:latin typeface="UGent Panno Text"/>
              </a:rPr>
              <a:t> - </a:t>
            </a:r>
            <a:r>
              <a:rPr lang="de-DE" sz="2400" err="1">
                <a:latin typeface="UGent Panno Text"/>
              </a:rPr>
              <a:t>Hendrickx</a:t>
            </a:r>
            <a:r>
              <a:rPr lang="de-DE" sz="2400">
                <a:latin typeface="UGent Panno Text"/>
              </a:rPr>
              <a:t> Quinten - Ünal </a:t>
            </a:r>
            <a:r>
              <a:rPr lang="de-DE" sz="2400" err="1">
                <a:latin typeface="UGent Panno Text"/>
              </a:rPr>
              <a:t>Kâni</a:t>
            </a:r>
            <a:r>
              <a:rPr lang="de-DE" sz="2400">
                <a:latin typeface="UGent Panno Text"/>
              </a:rPr>
              <a:t> - </a:t>
            </a:r>
            <a:r>
              <a:rPr lang="de-DE" sz="2400" err="1">
                <a:latin typeface="UGent Panno Text"/>
              </a:rPr>
              <a:t>Wannijn</a:t>
            </a:r>
            <a:r>
              <a:rPr lang="de-DE" sz="2400">
                <a:latin typeface="UGent Panno Text"/>
              </a:rPr>
              <a:t> Anton</a:t>
            </a:r>
          </a:p>
        </p:txBody>
      </p:sp>
      <p:pic>
        <p:nvPicPr>
          <p:cNvPr id="6" name="Picture 5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72FAECAA-2380-8D44-6EB3-B7EB65A47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053" y="1378910"/>
            <a:ext cx="4181475" cy="1619250"/>
          </a:xfrm>
          <a:prstGeom prst="rect">
            <a:avLst/>
          </a:prstGeom>
        </p:spPr>
      </p:pic>
      <p:pic>
        <p:nvPicPr>
          <p:cNvPr id="8" name="Picture 7" descr="A graph with purple lines&#10;&#10;AI-generated content may be incorrect.">
            <a:extLst>
              <a:ext uri="{FF2B5EF4-FFF2-40B4-BE49-F238E27FC236}">
                <a16:creationId xmlns:a16="http://schemas.microsoft.com/office/drawing/2014/main" id="{D58E13A4-2847-ED98-36BA-51BC08118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697" y="3172143"/>
            <a:ext cx="6911164" cy="234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04977-66A1-F66B-2285-3E7B9E6BC8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UGent Panno Text"/>
              </a:rPr>
              <a:t>Tree Detection 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E203CC-B9F7-AD2B-2F12-BE9659FFD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</a:p>
        </p:txBody>
      </p:sp>
      <p:pic>
        <p:nvPicPr>
          <p:cNvPr id="9" name="Content Placeholder 8" descr="A road with trees and a speedometer&#10;&#10;AI-generated content may be incorrect.">
            <a:extLst>
              <a:ext uri="{FF2B5EF4-FFF2-40B4-BE49-F238E27FC236}">
                <a16:creationId xmlns:a16="http://schemas.microsoft.com/office/drawing/2014/main" id="{71ED22FD-AECF-87F5-74A2-5598CD01B3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9558" y="1693817"/>
            <a:ext cx="8239207" cy="4649652"/>
          </a:xfrm>
        </p:spPr>
      </p:pic>
    </p:spTree>
    <p:extLst>
      <p:ext uri="{BB962C8B-B14F-4D97-AF65-F5344CB8AC3E}">
        <p14:creationId xmlns:p14="http://schemas.microsoft.com/office/powerpoint/2010/main" val="3110309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06AE9-7C38-D83C-3924-914C0970F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747FD1-583B-3912-8B82-B518339FC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09" y="1889759"/>
            <a:ext cx="6476756" cy="3789681"/>
          </a:xfrm>
        </p:spPr>
        <p:txBody>
          <a:bodyPr/>
          <a:lstStyle/>
          <a:p>
            <a:pPr marL="466725" lvl="1" indent="-457200"/>
            <a:r>
              <a:rPr lang="en-US"/>
              <a:t>Mechanism: </a:t>
            </a:r>
            <a:r>
              <a:rPr lang="en-US" err="1"/>
              <a:t>BasicTracker</a:t>
            </a:r>
            <a:r>
              <a:rPr lang="en-US"/>
              <a:t> Module</a:t>
            </a:r>
          </a:p>
          <a:p>
            <a:pPr marL="1258888" lvl="2" indent="-457200"/>
            <a:r>
              <a:rPr lang="en-US"/>
              <a:t>Intersection over Union (</a:t>
            </a:r>
            <a:r>
              <a:rPr lang="en-US" err="1"/>
              <a:t>IoU</a:t>
            </a:r>
            <a:r>
              <a:rPr lang="en-US"/>
              <a:t>) metric</a:t>
            </a:r>
          </a:p>
          <a:p>
            <a:pPr marL="1258888" lvl="2" indent="-457200">
              <a:buFont typeface="+mj-lt"/>
              <a:buAutoNum type="arabicPeriod"/>
            </a:pPr>
            <a:r>
              <a:rPr lang="en-US"/>
              <a:t>The track’s </a:t>
            </a:r>
            <a:r>
              <a:rPr lang="en-US" err="1"/>
              <a:t>bbox</a:t>
            </a:r>
            <a:r>
              <a:rPr lang="en-US"/>
              <a:t> is updated to the coordinates of the matched new detection. </a:t>
            </a:r>
          </a:p>
          <a:p>
            <a:pPr marL="1258888" lvl="2" indent="-457200">
              <a:buFont typeface="+mj-lt"/>
              <a:buAutoNum type="arabicPeriod"/>
            </a:pPr>
            <a:r>
              <a:rPr lang="en-US"/>
              <a:t>Its staleness counter is reset to zero, indicating it has been successfully re-identified. </a:t>
            </a:r>
          </a:p>
          <a:p>
            <a:pPr marL="1258888" lvl="2" indent="-457200">
              <a:buFont typeface="+mj-lt"/>
              <a:buAutoNum type="arabicPeriod"/>
            </a:pPr>
            <a:r>
              <a:rPr lang="en-US"/>
              <a:t>The </a:t>
            </a:r>
            <a:r>
              <a:rPr lang="en-US" err="1"/>
              <a:t>frames_seen</a:t>
            </a:r>
            <a:r>
              <a:rPr lang="en-US"/>
              <a:t> counter is incremented.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E031F-CF43-DE89-B80C-594F294DF9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Tree Tracking &amp; ID Assignment</a:t>
            </a:r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EB4598-ED3F-1082-09B6-340C6AA04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  <a:endParaRPr lang="en-BE"/>
          </a:p>
        </p:txBody>
      </p:sp>
      <p:sp>
        <p:nvSpPr>
          <p:cNvPr id="6" name="Ondertitel 2">
            <a:extLst>
              <a:ext uri="{FF2B5EF4-FFF2-40B4-BE49-F238E27FC236}">
                <a16:creationId xmlns:a16="http://schemas.microsoft.com/office/drawing/2014/main" id="{6A860AAA-2729-3899-3CC4-4FC3130BE5E3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err="1">
                <a:latin typeface="UGent Panno Text"/>
              </a:rPr>
              <a:t>Biesemans</a:t>
            </a:r>
            <a:r>
              <a:rPr lang="de-DE" sz="2400">
                <a:latin typeface="UGent Panno Text"/>
              </a:rPr>
              <a:t> Hannes - </a:t>
            </a:r>
            <a:r>
              <a:rPr lang="de-DE" sz="2400" err="1">
                <a:latin typeface="UGent Panno Text"/>
              </a:rPr>
              <a:t>Ceule</a:t>
            </a:r>
            <a:r>
              <a:rPr lang="de-DE" sz="2400">
                <a:latin typeface="UGent Panno Text"/>
              </a:rPr>
              <a:t> Alexander - </a:t>
            </a:r>
            <a:r>
              <a:rPr lang="de-DE" sz="2400" err="1">
                <a:latin typeface="UGent Panno Text"/>
              </a:rPr>
              <a:t>Hendrickx</a:t>
            </a:r>
            <a:r>
              <a:rPr lang="de-DE" sz="2400">
                <a:latin typeface="UGent Panno Text"/>
              </a:rPr>
              <a:t> Quinten - </a:t>
            </a:r>
            <a:r>
              <a:rPr lang="de-DE" sz="2400" b="1">
                <a:latin typeface="UGent Panno Text"/>
              </a:rPr>
              <a:t>Ünal Kâni</a:t>
            </a:r>
            <a:r>
              <a:rPr lang="de-DE" sz="2400">
                <a:latin typeface="UGent Panno Text"/>
              </a:rPr>
              <a:t> - </a:t>
            </a:r>
            <a:r>
              <a:rPr lang="de-DE" sz="2400" err="1">
                <a:latin typeface="UGent Panno Text"/>
              </a:rPr>
              <a:t>Wannijn</a:t>
            </a:r>
            <a:r>
              <a:rPr lang="de-DE" sz="2400">
                <a:latin typeface="UGent Panno Text"/>
              </a:rPr>
              <a:t> Anton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2835A1-0636-1AA5-BDD1-ACBB3CEC8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365" y="1889759"/>
            <a:ext cx="4547437" cy="349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602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A016D-D247-DCC1-DB23-58264CF04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7F18C3-00CE-03C0-1728-796A44842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6725" lvl="1" indent="-457200"/>
            <a:r>
              <a:rPr lang="nl-BE"/>
              <a:t>SIFT </a:t>
            </a:r>
            <a:r>
              <a:rPr lang="nl-BE" err="1"/>
              <a:t>keypoints</a:t>
            </a:r>
            <a:endParaRPr lang="nl-BE"/>
          </a:p>
          <a:p>
            <a:pPr marL="466725" lvl="1" indent="-457200"/>
            <a:r>
              <a:rPr lang="nl-BE"/>
              <a:t>Feature matching</a:t>
            </a:r>
          </a:p>
          <a:p>
            <a:pPr marL="466725" lvl="1" indent="-457200"/>
            <a:r>
              <a:rPr lang="nl-BE" err="1"/>
              <a:t>Essential</a:t>
            </a:r>
            <a:r>
              <a:rPr lang="nl-BE"/>
              <a:t> matrix </a:t>
            </a:r>
            <a:r>
              <a:rPr lang="nl-BE" err="1"/>
              <a:t>decomposition</a:t>
            </a:r>
            <a:endParaRPr lang="nl-BE"/>
          </a:p>
          <a:p>
            <a:pPr marL="466725" lvl="1" indent="-457200"/>
            <a:r>
              <a:rPr lang="nl-BE" err="1"/>
              <a:t>Metric</a:t>
            </a:r>
            <a:r>
              <a:rPr lang="nl-BE"/>
              <a:t> </a:t>
            </a:r>
            <a:r>
              <a:rPr lang="nl-BE" err="1"/>
              <a:t>scale</a:t>
            </a:r>
            <a:r>
              <a:rPr lang="nl-BE"/>
              <a:t> recovery</a:t>
            </a:r>
          </a:p>
          <a:p>
            <a:pPr marL="466725" lvl="1" indent="-457200"/>
            <a:r>
              <a:rPr lang="nl-BE"/>
              <a:t>Global pose </a:t>
            </a:r>
            <a:r>
              <a:rPr lang="nl-BE" err="1"/>
              <a:t>estimation</a:t>
            </a:r>
            <a:endParaRPr lang="nl-BE"/>
          </a:p>
          <a:p>
            <a:pPr marL="466725" lvl="1" indent="-457200"/>
            <a:r>
              <a:rPr lang="nl-BE"/>
              <a:t>Output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FEE91-B0AB-51B4-2B86-A489D1641A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Path Reconstruction</a:t>
            </a:r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349F0F-E290-1CD4-87F9-3507F7245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  <a:endParaRPr lang="en-BE"/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D2A23ED9-257C-75DF-C2B7-89D530F47052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err="1">
                <a:latin typeface="UGent Panno Text"/>
              </a:rPr>
              <a:t>Biesemans</a:t>
            </a:r>
            <a:r>
              <a:rPr lang="de-DE" sz="2400">
                <a:latin typeface="UGent Panno Text"/>
              </a:rPr>
              <a:t> Hannes - </a:t>
            </a:r>
            <a:r>
              <a:rPr lang="de-DE" sz="2400" err="1">
                <a:latin typeface="UGent Panno Text"/>
              </a:rPr>
              <a:t>Ceule</a:t>
            </a:r>
            <a:r>
              <a:rPr lang="de-DE" sz="2400">
                <a:latin typeface="UGent Panno Text"/>
              </a:rPr>
              <a:t> Alexander - </a:t>
            </a:r>
            <a:r>
              <a:rPr lang="de-DE" sz="2400" err="1">
                <a:latin typeface="UGent Panno Text"/>
              </a:rPr>
              <a:t>Hendrickx</a:t>
            </a:r>
            <a:r>
              <a:rPr lang="de-DE" sz="2400">
                <a:latin typeface="UGent Panno Text"/>
              </a:rPr>
              <a:t> Quinten - Ünal Kâni - </a:t>
            </a:r>
            <a:r>
              <a:rPr lang="de-DE" sz="2400" b="1" err="1">
                <a:latin typeface="UGent Panno Text"/>
              </a:rPr>
              <a:t>Wannijn</a:t>
            </a:r>
            <a:r>
              <a:rPr lang="de-DE" sz="2400" b="1">
                <a:latin typeface="UGent Panno Text"/>
              </a:rPr>
              <a:t> Anton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767C31C9-F022-47B4-A6CC-8596A2FB6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405" y="757628"/>
            <a:ext cx="5062285" cy="495022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142743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E12E8-5EE3-D5AC-556D-ECF210BF8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41F521A-2472-02C4-80CE-4F9C785FC4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66725" lvl="1" indent="-457200"/>
                <a:r>
                  <a:rPr lang="en-US"/>
                  <a:t>3D Localization</a:t>
                </a:r>
              </a:p>
              <a:p>
                <a:pPr marL="1258888" lvl="2" indent="-457200"/>
                <a:r>
                  <a:rPr lang="en-US"/>
                  <a:t>Triangulation </a:t>
                </a:r>
              </a:p>
              <a:p>
                <a:pPr marL="1258888" lvl="2" indent="-457200"/>
                <a:r>
                  <a:rPr lang="en-US"/>
                  <a:t>2D image coordinates from 2 views</a:t>
                </a:r>
              </a:p>
              <a:p>
                <a:pPr marL="1258888" lvl="2" indent="-457200"/>
                <a:r>
                  <a:rPr lang="en-US"/>
                  <a:t>Scaled camera poses </a:t>
                </a:r>
              </a:p>
              <a:p>
                <a:pPr marL="466725" lvl="1" indent="-457200"/>
                <a:r>
                  <a:rPr lang="en-US"/>
                  <a:t>DBH Estimation</a:t>
                </a:r>
              </a:p>
              <a:p>
                <a:pPr marL="1258888" lvl="2" indent="-457200">
                  <a:buFont typeface="+mj-lt"/>
                  <a:buAutoNum type="arabicPeriod"/>
                </a:pPr>
                <a:r>
                  <a:rPr lang="en-US"/>
                  <a:t>Find Tree Base</a:t>
                </a:r>
              </a:p>
              <a:p>
                <a:pPr marL="1258888" lvl="2" indent="-457200">
                  <a:buFont typeface="+mj-lt"/>
                  <a:buAutoNum type="arabicPeriod"/>
                </a:pPr>
                <a:r>
                  <a:rPr lang="en-US"/>
                  <a:t>Project DBH Height	​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𝑏𝑎𝑠𝑒</m:t>
                            </m:r>
                          </m:sub>
                        </m:sSub>
                      </m:den>
                    </m:f>
                  </m:oMath>
                </a14:m>
                <a:endParaRPr lang="en-US"/>
              </a:p>
              <a:p>
                <a:pPr marL="1258888" lvl="2" indent="-457200">
                  <a:buFont typeface="+mj-lt"/>
                  <a:buAutoNum type="arabicPeriod"/>
                </a:pPr>
                <a:r>
                  <a:rPr lang="en-US"/>
                  <a:t>Measure Pixel Width</a:t>
                </a:r>
              </a:p>
              <a:p>
                <a:pPr marL="1258888" lvl="2" indent="-457200">
                  <a:buFont typeface="+mj-lt"/>
                  <a:buAutoNum type="arabicPeriod"/>
                </a:pPr>
                <a:r>
                  <a:rPr lang="en-US"/>
                  <a:t>Convert to Meters	 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𝑟𝑒𝑎𝑙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𝑝𝑥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 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𝐷𝐵𝐻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41F521A-2472-02C4-80CE-4F9C785FC4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6" t="-22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E53B3-69F7-D1CF-0CF5-8C811D257B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3D Localization &amp; DBH Estimation</a:t>
            </a:r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A3BF3D-BA86-FFEF-8DED-1AE8E863F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  <a:endParaRPr lang="en-BE"/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22CCE032-8A63-9C5C-81B9-55F9E7CA5FC7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err="1">
                <a:latin typeface="UGent Panno Text"/>
              </a:rPr>
              <a:t>Biesemans</a:t>
            </a:r>
            <a:r>
              <a:rPr lang="de-DE" sz="2400">
                <a:latin typeface="UGent Panno Text"/>
              </a:rPr>
              <a:t> Hannes - </a:t>
            </a:r>
            <a:r>
              <a:rPr lang="de-DE" sz="2400" err="1">
                <a:latin typeface="UGent Panno Text"/>
              </a:rPr>
              <a:t>Ceule</a:t>
            </a:r>
            <a:r>
              <a:rPr lang="de-DE" sz="2400">
                <a:latin typeface="UGent Panno Text"/>
              </a:rPr>
              <a:t> Alexander - </a:t>
            </a:r>
            <a:r>
              <a:rPr lang="de-DE" sz="2400" err="1">
                <a:latin typeface="UGent Panno Text"/>
              </a:rPr>
              <a:t>Hendrickx</a:t>
            </a:r>
            <a:r>
              <a:rPr lang="de-DE" sz="2400">
                <a:latin typeface="UGent Panno Text"/>
              </a:rPr>
              <a:t> Quinten - </a:t>
            </a:r>
            <a:r>
              <a:rPr lang="de-DE" sz="2400" b="1">
                <a:latin typeface="UGent Panno Text"/>
              </a:rPr>
              <a:t>Ünal Kâni</a:t>
            </a:r>
            <a:r>
              <a:rPr lang="de-DE" sz="2400">
                <a:latin typeface="UGent Panno Text"/>
              </a:rPr>
              <a:t> - </a:t>
            </a:r>
            <a:r>
              <a:rPr lang="de-DE" sz="2400" err="1">
                <a:latin typeface="UGent Panno Text"/>
              </a:rPr>
              <a:t>Wannijn</a:t>
            </a:r>
            <a:r>
              <a:rPr lang="de-DE" sz="2400">
                <a:latin typeface="UGent Panno Text"/>
              </a:rPr>
              <a:t> Anton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F52B3C-41DD-B037-4364-3C3FB6DD1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278" y="1640189"/>
            <a:ext cx="4547437" cy="349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742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F2E0EDE-8DAE-0FF6-7F9B-B56093807E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77310-00E3-EC24-234B-332C5470DC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Results 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28035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759FA-2D10-268E-79E7-7D221E758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447594-DE0A-1A91-B902-EA2BC13A5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6725" lvl="1" indent="-457200"/>
            <a:r>
              <a:rPr lang="en-US"/>
              <a:t>Demo with video</a:t>
            </a:r>
          </a:p>
          <a:p>
            <a:pPr marL="466725" lvl="1" indent="-457200"/>
            <a:r>
              <a:rPr lang="en-US"/>
              <a:t>Top-down map</a:t>
            </a:r>
          </a:p>
          <a:p>
            <a:pPr marL="466725" lvl="1" indent="-457200"/>
            <a:r>
              <a:rPr lang="en-US"/>
              <a:t>Csv file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232B6-27ED-22CD-0253-AFAC714B4B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320DDA7-85DA-689B-98D7-BB7F92E40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</a:t>
            </a:r>
            <a:endParaRPr lang="en-BE"/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98D5E417-3218-9DEB-4A7B-3FECD7CC921D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err="1">
                <a:latin typeface="UGent Panno Text"/>
              </a:rPr>
              <a:t>Biesemans</a:t>
            </a:r>
            <a:r>
              <a:rPr lang="de-DE" sz="2400">
                <a:latin typeface="UGent Panno Text"/>
              </a:rPr>
              <a:t> Hannes - </a:t>
            </a:r>
            <a:r>
              <a:rPr lang="de-DE" sz="2400" err="1">
                <a:latin typeface="UGent Panno Text"/>
              </a:rPr>
              <a:t>Ceule</a:t>
            </a:r>
            <a:r>
              <a:rPr lang="de-DE" sz="2400">
                <a:latin typeface="UGent Panno Text"/>
              </a:rPr>
              <a:t> Alexander - </a:t>
            </a:r>
            <a:r>
              <a:rPr lang="de-DE" sz="2400" b="1" err="1">
                <a:latin typeface="UGent Panno Text"/>
              </a:rPr>
              <a:t>Hendrickx</a:t>
            </a:r>
            <a:r>
              <a:rPr lang="de-DE" sz="2400" b="1">
                <a:latin typeface="UGent Panno Text"/>
              </a:rPr>
              <a:t> Quinten</a:t>
            </a:r>
            <a:r>
              <a:rPr lang="de-DE" sz="2400">
                <a:latin typeface="UGent Panno Text"/>
              </a:rPr>
              <a:t> - Ünal Kâni - </a:t>
            </a:r>
            <a:r>
              <a:rPr lang="de-DE" sz="2400" err="1">
                <a:latin typeface="UGent Panno Text"/>
              </a:rPr>
              <a:t>Wannijn</a:t>
            </a:r>
            <a:r>
              <a:rPr lang="de-DE" sz="2400">
                <a:latin typeface="UGent Panno Text"/>
              </a:rPr>
              <a:t> Anton</a:t>
            </a:r>
          </a:p>
        </p:txBody>
      </p:sp>
      <p:pic>
        <p:nvPicPr>
          <p:cNvPr id="7" name="Afbeelding 7">
            <a:extLst>
              <a:ext uri="{FF2B5EF4-FFF2-40B4-BE49-F238E27FC236}">
                <a16:creationId xmlns:a16="http://schemas.microsoft.com/office/drawing/2014/main" id="{F56414F2-C187-7B36-1F05-E6CA910FA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405" y="757628"/>
            <a:ext cx="5062285" cy="495022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578332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1E6DBE4-C559-279D-2E75-091AF8C9CC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F8A3A-97AC-9F8B-E58B-10D7CB4E7B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82018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1934D-78EA-1D31-504D-ACBAD597C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205C9B-7B83-DD26-0AAC-3906571F7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66725" lvl="1" indent="-457200"/>
            <a:r>
              <a:rPr lang="en-BE">
                <a:latin typeface="UGent Panno Text"/>
              </a:rPr>
              <a:t>Proof of Concept Success</a:t>
            </a:r>
          </a:p>
          <a:p>
            <a:pPr marL="466725" lvl="1" indent="-457200"/>
            <a:r>
              <a:rPr lang="en-BE">
                <a:latin typeface="UGent Panno Text"/>
              </a:rPr>
              <a:t>Low-Cost, Scalable Potential</a:t>
            </a:r>
            <a:endParaRPr lang="en-BE"/>
          </a:p>
          <a:p>
            <a:pPr marL="466725" lvl="1" indent="-457200"/>
            <a:r>
              <a:rPr lang="en-BE">
                <a:latin typeface="UGent Panno Text"/>
              </a:rPr>
              <a:t>Current Limitations</a:t>
            </a:r>
            <a:endParaRPr lang="en-BE"/>
          </a:p>
          <a:p>
            <a:pPr marL="466725" lvl="1" indent="-457200"/>
            <a:r>
              <a:rPr lang="en-BE">
                <a:latin typeface="UGent Panno Text"/>
              </a:rPr>
              <a:t>Future Expansion Paths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20764-BDA0-EC8B-A59B-299688C2CA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A611D5-920D-C621-3D96-CC711BCCE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UGent Panno Text"/>
              </a:rPr>
              <a:t>Conclusion &amp; Future Expansion</a:t>
            </a:r>
            <a:endParaRPr lang="en-BE"/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79A88DFE-41D4-DF36-CACD-C34805E29A40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b="1" err="1">
                <a:latin typeface="UGent Panno Text"/>
              </a:rPr>
              <a:t>Biesemans</a:t>
            </a:r>
            <a:r>
              <a:rPr lang="de-DE" sz="2400" b="1">
                <a:latin typeface="UGent Panno Text"/>
              </a:rPr>
              <a:t> Hannes</a:t>
            </a:r>
            <a:r>
              <a:rPr lang="de-DE" sz="2400">
                <a:latin typeface="UGent Panno Text"/>
              </a:rPr>
              <a:t> - </a:t>
            </a:r>
            <a:r>
              <a:rPr lang="de-DE" sz="2400" err="1">
                <a:latin typeface="UGent Panno Text"/>
              </a:rPr>
              <a:t>Ceule</a:t>
            </a:r>
            <a:r>
              <a:rPr lang="de-DE" sz="2400">
                <a:latin typeface="UGent Panno Text"/>
              </a:rPr>
              <a:t> Alexander - </a:t>
            </a:r>
            <a:r>
              <a:rPr lang="de-DE" sz="2400" err="1">
                <a:latin typeface="UGent Panno Text"/>
              </a:rPr>
              <a:t>Hendrickx</a:t>
            </a:r>
            <a:r>
              <a:rPr lang="de-DE" sz="2400">
                <a:latin typeface="UGent Panno Text"/>
              </a:rPr>
              <a:t> Quinten - Ünal Kâni - </a:t>
            </a:r>
            <a:r>
              <a:rPr lang="de-DE" sz="2400" err="1">
                <a:latin typeface="UGent Panno Text"/>
              </a:rPr>
              <a:t>Wannijn</a:t>
            </a:r>
            <a:r>
              <a:rPr lang="de-DE" sz="2400">
                <a:latin typeface="UGent Panno Text"/>
              </a:rPr>
              <a:t> Anton</a:t>
            </a:r>
          </a:p>
        </p:txBody>
      </p:sp>
      <p:pic>
        <p:nvPicPr>
          <p:cNvPr id="6" name="Afbeelding 5" descr="Purdue team introduces advance in automatic forest mapping technology - News">
            <a:extLst>
              <a:ext uri="{FF2B5EF4-FFF2-40B4-BE49-F238E27FC236}">
                <a16:creationId xmlns:a16="http://schemas.microsoft.com/office/drawing/2014/main" id="{88A503C6-4F3A-AACB-D53D-65BB609CCF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23" t="6792" r="10944" b="6038"/>
          <a:stretch>
            <a:fillRect/>
          </a:stretch>
        </p:blipFill>
        <p:spPr>
          <a:xfrm>
            <a:off x="6251069" y="1888367"/>
            <a:ext cx="5192727" cy="3082670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002FFAB5-C6C0-7F0C-334E-051B14379789}"/>
              </a:ext>
            </a:extLst>
          </p:cNvPr>
          <p:cNvSpPr txBox="1"/>
          <p:nvPr/>
        </p:nvSpPr>
        <p:spPr>
          <a:xfrm>
            <a:off x="7511802" y="4981950"/>
            <a:ext cx="451310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1200"/>
              <a:t>Automatic </a:t>
            </a:r>
            <a:r>
              <a:rPr lang="nl-NL" sz="1200" err="1"/>
              <a:t>Forest</a:t>
            </a:r>
            <a:r>
              <a:rPr lang="nl-NL" sz="1200"/>
              <a:t> </a:t>
            </a:r>
            <a:r>
              <a:rPr lang="nl-NL" sz="1200" err="1"/>
              <a:t>Mapping</a:t>
            </a:r>
            <a:r>
              <a:rPr lang="nl-NL" sz="1200"/>
              <a:t> </a:t>
            </a:r>
            <a:r>
              <a:rPr lang="nl-NL" sz="1200">
                <a:ea typeface="+mn-lt"/>
                <a:cs typeface="+mn-lt"/>
              </a:rPr>
              <a:t>(Gilles, 2024)</a:t>
            </a:r>
            <a:endParaRPr lang="nl-NL" sz="1200"/>
          </a:p>
        </p:txBody>
      </p:sp>
    </p:spTree>
    <p:extLst>
      <p:ext uri="{BB962C8B-B14F-4D97-AF65-F5344CB8AC3E}">
        <p14:creationId xmlns:p14="http://schemas.microsoft.com/office/powerpoint/2010/main" val="721766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2F4CBF-0D8A-B4C2-4ED6-B0254A7AD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>
                <a:latin typeface="UGent Panno Text"/>
              </a:rPr>
              <a:t>[1] Dukowitz, Z. (2024, December 17). A Guide to Drone Mapping: Use Cases, Software, and Key Terminology [Updated for   2024]. Drone Pilot Ground School. https://www.dronepilotgroundschool.com/drone-mapping-software/</a:t>
            </a:r>
          </a:p>
          <a:p>
            <a:r>
              <a:rPr lang="en-GB" sz="2000">
                <a:latin typeface="UGent Panno Text"/>
              </a:rPr>
              <a:t>[2] Gilles, N. E. (2024, July 23). Purdue team introduces advance in automatic forest mapping technology - News.</a:t>
            </a:r>
            <a:br>
              <a:rPr lang="en-GB" sz="2000">
                <a:latin typeface="UGent Panno Text"/>
              </a:rPr>
            </a:br>
            <a:r>
              <a:rPr lang="en-GB" sz="2000">
                <a:latin typeface="UGent Panno Text"/>
              </a:rPr>
              <a:t>  News. https://www.purdue.edu/newsroom/2022/Q4/purdue-team-introduces-advance-in-automatic-forest-mapping-</a:t>
            </a:r>
            <a:br>
              <a:rPr lang="en-GB" sz="2000">
                <a:latin typeface="UGent Panno Text"/>
              </a:rPr>
            </a:br>
            <a:r>
              <a:rPr lang="en-GB" sz="2000">
                <a:latin typeface="UGent Panno Text"/>
              </a:rPr>
              <a:t>  technology/</a:t>
            </a:r>
            <a:endParaRPr lang="en-GB" sz="2000"/>
          </a:p>
          <a:p>
            <a:endParaRPr lang="en-GB"/>
          </a:p>
          <a:p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35B4D-91D9-0177-8D7E-28C4F8A1AA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1F16C3-EF9A-C6C5-0E87-7136FE645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>
                <a:latin typeface="UGent Panno Text"/>
              </a:rPr>
              <a:t>References</a:t>
            </a:r>
            <a:endParaRPr lang="nl-NL" err="1"/>
          </a:p>
        </p:txBody>
      </p:sp>
    </p:spTree>
    <p:extLst>
      <p:ext uri="{BB962C8B-B14F-4D97-AF65-F5344CB8AC3E}">
        <p14:creationId xmlns:p14="http://schemas.microsoft.com/office/powerpoint/2010/main" val="3551011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3851D-8CBB-6832-25B1-BD6AE86ABE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nl-NL" err="1">
                <a:latin typeface="UGent Panno Text"/>
              </a:rPr>
              <a:t>UGhent</a:t>
            </a:r>
            <a:r>
              <a:rPr lang="nl-NL">
                <a:latin typeface="UGent Panno Text"/>
              </a:rPr>
              <a:t> </a:t>
            </a:r>
            <a:r>
              <a:rPr lang="nl-NL" err="1">
                <a:latin typeface="UGent Panno Text"/>
              </a:rPr>
              <a:t>Faculty</a:t>
            </a:r>
            <a:r>
              <a:rPr lang="nl-NL">
                <a:latin typeface="UGent Panno Text"/>
              </a:rPr>
              <a:t> of Engineering </a:t>
            </a:r>
            <a:r>
              <a:rPr lang="nl-NL" err="1">
                <a:latin typeface="UGent Panno Text"/>
              </a:rPr>
              <a:t>and</a:t>
            </a:r>
            <a:r>
              <a:rPr lang="nl-NL">
                <a:latin typeface="UGent Panno Text"/>
              </a:rPr>
              <a:t> Architecture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00302A-5D14-0CE9-73A8-591255D9E1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nl-NL" err="1">
                <a:latin typeface="UGent Panno Text"/>
              </a:rPr>
              <a:t>Computervision</a:t>
            </a:r>
            <a:r>
              <a:rPr lang="nl-NL">
                <a:latin typeface="UGent Panno Text"/>
              </a:rPr>
              <a:t> Project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12C75-E86D-F968-ECCF-FC1DF83A39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>
                <a:latin typeface="UGent Panno Text"/>
              </a:rPr>
              <a:t>Group 6</a:t>
            </a:r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5D013EF-2CD6-7B0F-7E31-19E000275F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nl-NL" err="1">
                <a:latin typeface="UGent Panno Text"/>
              </a:rPr>
              <a:t>Automated</a:t>
            </a:r>
            <a:r>
              <a:rPr lang="nl-NL">
                <a:latin typeface="UGent Panno Text"/>
              </a:rPr>
              <a:t> Tree </a:t>
            </a:r>
            <a:r>
              <a:rPr lang="nl-NL" err="1">
                <a:latin typeface="UGent Panno Text"/>
              </a:rPr>
              <a:t>Mapping</a:t>
            </a:r>
            <a:r>
              <a:rPr lang="nl-NL">
                <a:latin typeface="UGent Panno Text"/>
              </a:rPr>
              <a:t> </a:t>
            </a:r>
            <a:r>
              <a:rPr lang="nl-NL" err="1">
                <a:latin typeface="UGent Panno Text"/>
              </a:rPr>
              <a:t>and</a:t>
            </a:r>
            <a:r>
              <a:rPr lang="nl-NL">
                <a:latin typeface="UGent Panno Text"/>
              </a:rPr>
              <a:t> </a:t>
            </a:r>
            <a:r>
              <a:rPr lang="nl-NL" err="1">
                <a:latin typeface="UGent Panno Text"/>
              </a:rPr>
              <a:t>Measurement</a:t>
            </a:r>
            <a:r>
              <a:rPr lang="nl-NL">
                <a:latin typeface="UGent Panno Text"/>
              </a:rPr>
              <a:t> </a:t>
            </a:r>
          </a:p>
        </p:txBody>
      </p:sp>
      <p:sp>
        <p:nvSpPr>
          <p:cNvPr id="11" name="Ondertitel 2">
            <a:extLst>
              <a:ext uri="{FF2B5EF4-FFF2-40B4-BE49-F238E27FC236}">
                <a16:creationId xmlns:a16="http://schemas.microsoft.com/office/drawing/2014/main" id="{1F038659-968C-3234-E7C6-8B90BF928C4F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BE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err="1"/>
              <a:t>Biesemans</a:t>
            </a:r>
            <a:r>
              <a:rPr lang="de-DE" sz="2400"/>
              <a:t> Hannes - </a:t>
            </a:r>
            <a:r>
              <a:rPr lang="de-DE" sz="2400" err="1"/>
              <a:t>Ceule</a:t>
            </a:r>
            <a:r>
              <a:rPr lang="de-DE" sz="2400"/>
              <a:t> Alexander - </a:t>
            </a:r>
            <a:r>
              <a:rPr lang="de-DE" sz="2400" err="1"/>
              <a:t>Hendrickx</a:t>
            </a:r>
            <a:r>
              <a:rPr lang="de-DE" sz="2400"/>
              <a:t> Quinten - Ünal Kâni - </a:t>
            </a:r>
            <a:r>
              <a:rPr lang="de-DE" sz="2400" err="1"/>
              <a:t>Wannijn</a:t>
            </a:r>
            <a:r>
              <a:rPr lang="de-DE" sz="2400"/>
              <a:t> Anton</a:t>
            </a:r>
          </a:p>
        </p:txBody>
      </p:sp>
    </p:spTree>
    <p:extLst>
      <p:ext uri="{BB962C8B-B14F-4D97-AF65-F5344CB8AC3E}">
        <p14:creationId xmlns:p14="http://schemas.microsoft.com/office/powerpoint/2010/main" val="419294846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UGent FAC">
      <a:dk1>
        <a:srgbClr val="000000"/>
      </a:dk1>
      <a:lt1>
        <a:srgbClr val="FFFFFF"/>
      </a:lt1>
      <a:dk2>
        <a:srgbClr val="1E64C8"/>
      </a:dk2>
      <a:lt2>
        <a:srgbClr val="FFFFFF"/>
      </a:lt2>
      <a:accent1>
        <a:srgbClr val="F1A32B"/>
      </a:accent1>
      <a:accent2>
        <a:srgbClr val="DC4E31"/>
      </a:accent2>
      <a:accent3>
        <a:srgbClr val="2C8CA5"/>
      </a:accent3>
      <a:accent4>
        <a:srgbClr val="E85E71"/>
      </a:accent4>
      <a:accent5>
        <a:srgbClr val="8BBED5"/>
      </a:accent5>
      <a:accent6>
        <a:srgbClr val="AEB047"/>
      </a:accent6>
      <a:hlink>
        <a:srgbClr val="1E64C8"/>
      </a:hlink>
      <a:folHlink>
        <a:srgbClr val="1E64C8"/>
      </a:folHlink>
    </a:clrScheme>
    <a:fontScheme name="UGent">
      <a:majorFont>
        <a:latin typeface="UGent Panno Text SemiBold"/>
        <a:ea typeface=""/>
        <a:cs typeface=""/>
      </a:majorFont>
      <a:minorFont>
        <a:latin typeface="UGent Panno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CADDFB91-C688-4600-9637-E64F35C1E4BE}" vid="{E1B6215B-46C5-4A02-9A90-726F133FF5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Kantoorthema</vt:lpstr>
      <vt:lpstr>PowerPoint Presentation</vt:lpstr>
      <vt:lpstr>Automated Tree Mapping and Measurement </vt:lpstr>
      <vt:lpstr>Table of Contents</vt:lpstr>
      <vt:lpstr>PowerPoint Presentation</vt:lpstr>
      <vt:lpstr>Introduction</vt:lpstr>
      <vt:lpstr>PowerPoint Presentation</vt:lpstr>
      <vt:lpstr>Overview</vt:lpstr>
      <vt:lpstr>PowerPoint Presentation</vt:lpstr>
      <vt:lpstr>Methodology</vt:lpstr>
      <vt:lpstr>Methodology</vt:lpstr>
      <vt:lpstr>Methodology</vt:lpstr>
      <vt:lpstr>Methodology</vt:lpstr>
      <vt:lpstr>Methodology</vt:lpstr>
      <vt:lpstr>Methodology</vt:lpstr>
      <vt:lpstr>PowerPoint Presentation</vt:lpstr>
      <vt:lpstr>Results</vt:lpstr>
      <vt:lpstr>PowerPoint Presentation</vt:lpstr>
      <vt:lpstr>Conclusion &amp; Future Expansion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17</cp:revision>
  <dcterms:created xsi:type="dcterms:W3CDTF">2025-06-08T12:21:11Z</dcterms:created>
  <dcterms:modified xsi:type="dcterms:W3CDTF">2025-06-11T09:47:34Z</dcterms:modified>
</cp:coreProperties>
</file>